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 Light"/>
      <p:regular r:id="rId19"/>
      <p:bold r:id="rId20"/>
      <p:italic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  <p:embeddedFont>
      <p:font typeface="Playfair Display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fairDisplaySemiBold-bold.fntdata"/><Relationship Id="rId20" Type="http://schemas.openxmlformats.org/officeDocument/2006/relationships/font" Target="fonts/InterLight-bold.fntdata"/><Relationship Id="rId42" Type="http://schemas.openxmlformats.org/officeDocument/2006/relationships/font" Target="fonts/PlayfairDisplaySemiBold-boldItalic.fntdata"/><Relationship Id="rId41" Type="http://schemas.openxmlformats.org/officeDocument/2006/relationships/font" Target="fonts/PlayfairDisplaySemiBold-italic.fntdata"/><Relationship Id="rId22" Type="http://schemas.openxmlformats.org/officeDocument/2006/relationships/font" Target="fonts/InterLight-boldItalic.fntdata"/><Relationship Id="rId21" Type="http://schemas.openxmlformats.org/officeDocument/2006/relationships/font" Target="fonts/InterLight-italic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PlayfairDisplay-bold.fntdata"/><Relationship Id="rId27" Type="http://schemas.openxmlformats.org/officeDocument/2006/relationships/font" Target="fonts/PlayfairDis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regular.fntdata"/><Relationship Id="rId30" Type="http://schemas.openxmlformats.org/officeDocument/2006/relationships/font" Target="fonts/PlayfairDisplay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-italic.fntdata"/><Relationship Id="rId10" Type="http://schemas.openxmlformats.org/officeDocument/2006/relationships/slide" Target="slides/slide5.xml"/><Relationship Id="rId32" Type="http://schemas.openxmlformats.org/officeDocument/2006/relationships/font" Target="fonts/Inter-bold.fntdata"/><Relationship Id="rId13" Type="http://schemas.openxmlformats.org/officeDocument/2006/relationships/slide" Target="slides/slide8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9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2.xml"/><Relationship Id="rId39" Type="http://schemas.openxmlformats.org/officeDocument/2006/relationships/font" Target="fonts/PlayfairDisplaySemiBold-regular.fntdata"/><Relationship Id="rId16" Type="http://schemas.openxmlformats.org/officeDocument/2006/relationships/slide" Target="slides/slide11.xml"/><Relationship Id="rId38" Type="http://schemas.openxmlformats.org/officeDocument/2006/relationships/font" Target="fonts/InterMedium-boldItalic.fntdata"/><Relationship Id="rId19" Type="http://schemas.openxmlformats.org/officeDocument/2006/relationships/font" Target="fonts/InterLigh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11" Type="http://schemas.openxmlformats.org/officeDocument/2006/relationships/image" Target="../media/image12.png"/><Relationship Id="rId10" Type="http://schemas.openxmlformats.org/officeDocument/2006/relationships/image" Target="../media/image19.png"/><Relationship Id="rId9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Relationship Id="rId8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43000" y="2487959"/>
            <a:ext cx="108013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0E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Algorithm of Soul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43000" y="3516659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8A882"/>
                </a:solidFill>
                <a:latin typeface="Inter Light"/>
                <a:ea typeface="Inter Light"/>
                <a:cs typeface="Inter Light"/>
                <a:sym typeface="Inter Light"/>
              </a:rPr>
              <a:t>Performance Creative Studio für Beauty, Health &amp; Lifestyle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762000" y="762000"/>
            <a:ext cx="4800600" cy="21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C8A88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Schöne Bilder reichen nicht mehr.</a:t>
            </a:r>
            <a:endParaRPr/>
          </a:p>
        </p:txBody>
      </p:sp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3381375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Beauty-Marken in Deutschland investieren Millionen in Paid Ads. Und verlieren täglich Budget – weil ihre Creatives nicht performen.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4672607"/>
            <a:ext cx="4572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8A882"/>
                </a:solidFill>
                <a:latin typeface="Inter"/>
                <a:ea typeface="Inter"/>
                <a:cs typeface="Inter"/>
                <a:sym typeface="Inter"/>
              </a:rPr>
              <a:t>Creative Fatigue ist real.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C8A882"/>
                </a:solidFill>
                <a:latin typeface="Inter"/>
                <a:ea typeface="Inter"/>
                <a:cs typeface="Inter"/>
                <a:sym typeface="Inter"/>
              </a:rPr>
              <a:t> CTR fällt. CPC steigt. ROAS bricht ein.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5750718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Nicht weil das Targeting falsch ist.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 Weil die Bilder nicht stoppen.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762000" y="571500"/>
            <a:ext cx="11201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Der Hebel liegt im </a:t>
            </a:r>
            <a:r>
              <a:rPr b="0" i="0" lang="en-US" sz="4200" u="none" cap="none" strike="noStrike">
                <a:solidFill>
                  <a:srgbClr val="C8A88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Creative</a:t>
            </a:r>
            <a:r>
              <a:rPr b="0" i="0" lang="en-US" sz="42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– nicht im Budget.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62000" y="3143250"/>
            <a:ext cx="590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C8A8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638300" y="3238500"/>
            <a:ext cx="9715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 Light"/>
                <a:ea typeface="Inter Light"/>
                <a:cs typeface="Inter Light"/>
                <a:sym typeface="Inter Light"/>
              </a:rPr>
              <a:t>Bis zu 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70 %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 Light"/>
                <a:ea typeface="Inter Light"/>
                <a:cs typeface="Inter Light"/>
                <a:sym typeface="Inter Light"/>
              </a:rPr>
              <a:t> des Kampagnenerfolgs im Paid Social wird durch das Creative bestimmt.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62000" y="409575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C8A8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714500" y="4191000"/>
            <a:ext cx="86963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 Light"/>
                <a:ea typeface="Inter Light"/>
                <a:cs typeface="Inter Light"/>
                <a:sym typeface="Inter Light"/>
              </a:rPr>
              <a:t>Marken brauchen keine besseren Kampagnen. Sie brauchen 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bessere Bilder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5048250"/>
            <a:ext cx="647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C8A8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695450" y="5143500"/>
            <a:ext cx="8096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 Light"/>
                <a:ea typeface="Inter Light"/>
                <a:cs typeface="Inter Light"/>
                <a:sym typeface="Inter Light"/>
              </a:rPr>
              <a:t>Bilder, die gebaut wurden, um zu performen – nicht nur um zu gefallen.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C8A88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Wir sind Algorithm of Soul.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2185987" y="2626965"/>
            <a:ext cx="7820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0E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Ein Performance Creative Studio an der Schnittstelle von: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3071812" y="5055840"/>
            <a:ext cx="6048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Wir liefern keine Bilder. </a:t>
            </a:r>
            <a:r>
              <a:rPr b="0" i="0" lang="en-US" sz="1800" u="none" cap="none" strike="noStrike">
                <a:solidFill>
                  <a:srgbClr val="C8A882"/>
                </a:solidFill>
                <a:latin typeface="Inter Medium"/>
                <a:ea typeface="Inter Medium"/>
                <a:cs typeface="Inter Medium"/>
                <a:sym typeface="Inter Medium"/>
              </a:rPr>
              <a:t>Wir bauen eine Creative-Engine.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4291012" y="3703290"/>
            <a:ext cx="2476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7777162" y="3703290"/>
            <a:ext cx="2476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/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6062" y="365566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2043112" y="4179540"/>
            <a:ext cx="1866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0EB"/>
                </a:solidFill>
                <a:latin typeface="Inter Medium"/>
                <a:ea typeface="Inter Medium"/>
                <a:cs typeface="Inter Medium"/>
                <a:sym typeface="Inter Medium"/>
              </a:rPr>
              <a:t>High-End-Fotografie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365566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4919662" y="417954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0EB"/>
                </a:solidFill>
                <a:latin typeface="Inter Medium"/>
                <a:ea typeface="Inter Medium"/>
                <a:cs typeface="Inter Medium"/>
                <a:sym typeface="Inter Medium"/>
              </a:rPr>
              <a:t>KI-generierte Hintergründe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6850" y="365566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8405812" y="4179540"/>
            <a:ext cx="1743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0EB"/>
                </a:solidFill>
                <a:latin typeface="Inter Medium"/>
                <a:ea typeface="Inter Medium"/>
                <a:cs typeface="Inter Medium"/>
                <a:sym typeface="Inter Medium"/>
              </a:rPr>
              <a:t>Paid-Ads-Analytics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3965" y="341381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0845" y="341381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726" y="341381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4606" y="341381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31487" y="341381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Der Algorithm of Soul </a:t>
            </a:r>
            <a:r>
              <a:rPr b="0" i="0" lang="en-US" sz="4200" u="none" cap="none" strike="noStrike">
                <a:solidFill>
                  <a:srgbClr val="C8A88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Creative-Loop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1295400" y="4014713"/>
            <a:ext cx="9601200" cy="19050"/>
          </a:xfrm>
          <a:prstGeom prst="rect">
            <a:avLst/>
          </a:prstGeom>
          <a:solidFill>
            <a:srgbClr val="C8A8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1262032" y="4080569"/>
            <a:ext cx="92011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8A88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62000" y="4375844"/>
            <a:ext cx="192018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Was performt im Ad-Account? Was nicht?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3238886" y="4080569"/>
            <a:ext cx="13401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8A88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HYPOTHESEN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2948880" y="4375844"/>
            <a:ext cx="192018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Definition der nächsten Creative-Tests.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435768" y="4080569"/>
            <a:ext cx="13201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8A88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PRODUKTION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135760" y="4375844"/>
            <a:ext cx="192018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Shooting + KI-Hintergründe + Postproduktion.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852677" y="4080569"/>
            <a:ext cx="8601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8A88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TESTING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322641" y="4375844"/>
            <a:ext cx="192018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A/B-Tests direkt im Meta/TikTok-Account.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969549" y="4080569"/>
            <a:ext cx="1000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8A88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LEARNING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509521" y="4375844"/>
            <a:ext cx="192018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Daten der Welle fließen in die nächste ein.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78533"/>
            <a:ext cx="3365450" cy="3891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2078533"/>
            <a:ext cx="3365450" cy="3891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2078533"/>
            <a:ext cx="3365450" cy="3891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5150941"/>
            <a:ext cx="27749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8475" y="5150941"/>
            <a:ext cx="27749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9675" y="5150941"/>
            <a:ext cx="27749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C8A88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Drei Wege, mit uns zu arbeiten.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497633"/>
            <a:ext cx="2774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1057275" y="3031033"/>
            <a:ext cx="291364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E-Commerce &amp; Catalog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57275" y="3470969"/>
            <a:ext cx="2774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Fokus:</a:t>
            </a:r>
            <a:r>
              <a:rPr b="0" i="0" lang="en-US" sz="1350" u="none" cap="none" strike="noStrike">
                <a:solidFill>
                  <a:srgbClr val="555555"/>
                </a:solidFill>
                <a:latin typeface="Inter Light"/>
                <a:ea typeface="Inter Light"/>
                <a:cs typeface="Inter Light"/>
                <a:sym typeface="Inter Light"/>
              </a:rPr>
              <a:t> Produktfotos für Shop &amp; Marktplätze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57275" y="4162425"/>
            <a:ext cx="2774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Nutzen:</a:t>
            </a:r>
            <a:r>
              <a:rPr b="0" i="0" lang="en-US" sz="1350" u="none" cap="none" strike="noStrike">
                <a:solidFill>
                  <a:srgbClr val="555555"/>
                </a:solidFill>
                <a:latin typeface="Inter Light"/>
                <a:ea typeface="Inter Light"/>
                <a:cs typeface="Inter Light"/>
                <a:sym typeface="Inter Light"/>
              </a:rPr>
              <a:t> Hochwertiges Online-Schaufenster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08475" y="2497633"/>
            <a:ext cx="2774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4708475" y="3031033"/>
            <a:ext cx="2913645" cy="594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Social Media &amp; Advertising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708475" y="3768030"/>
            <a:ext cx="2774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Fokus:</a:t>
            </a:r>
            <a:r>
              <a:rPr b="0" i="0" lang="en-US" sz="1350" u="none" cap="none" strike="noStrike">
                <a:solidFill>
                  <a:srgbClr val="555555"/>
                </a:solidFill>
                <a:latin typeface="Inter Light"/>
                <a:ea typeface="Inter Light"/>
                <a:cs typeface="Inter Light"/>
                <a:sym typeface="Inter Light"/>
              </a:rPr>
              <a:t> Ad-Creatives für Meta, TikTok, Google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708475" y="4459485"/>
            <a:ext cx="2774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Nutzen:</a:t>
            </a:r>
            <a:r>
              <a:rPr b="0" i="0" lang="en-US" sz="1350" u="none" cap="none" strike="noStrike">
                <a:solidFill>
                  <a:srgbClr val="555555"/>
                </a:solidFill>
                <a:latin typeface="Inter Light"/>
                <a:ea typeface="Inter Light"/>
                <a:cs typeface="Inter Light"/>
                <a:sym typeface="Inter Light"/>
              </a:rPr>
              <a:t> Höhere CTR, niedrigere CPCs, testbare Varianten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59675" y="2497633"/>
            <a:ext cx="2774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8359675" y="3031033"/>
            <a:ext cx="291364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Creative Retainer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359675" y="3470969"/>
            <a:ext cx="2774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Fokus:</a:t>
            </a:r>
            <a:r>
              <a:rPr b="0" i="0" lang="en-US" sz="1350" u="none" cap="none" strike="noStrike">
                <a:solidFill>
                  <a:srgbClr val="555555"/>
                </a:solidFill>
                <a:latin typeface="Inter Light"/>
                <a:ea typeface="Inter Light"/>
                <a:cs typeface="Inter Light"/>
                <a:sym typeface="Inter Light"/>
              </a:rPr>
              <a:t> Laufende Creative-Engine + Testing + Reporting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359675" y="4162425"/>
            <a:ext cx="2774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Nutzen:</a:t>
            </a:r>
            <a:r>
              <a:rPr b="0" i="0" lang="en-US" sz="1350" u="none" cap="none" strike="noStrike">
                <a:solidFill>
                  <a:srgbClr val="555555"/>
                </a:solidFill>
                <a:latin typeface="Inter Light"/>
                <a:ea typeface="Inter Light"/>
                <a:cs typeface="Inter Light"/>
                <a:sym typeface="Inter Light"/>
              </a:rPr>
              <a:t> Dauerhafte Creative-Diversifikation, kein Fatigue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2514600" y="5398591"/>
            <a:ext cx="6381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/ Shooting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194375" y="5398591"/>
            <a:ext cx="1028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/ Kampagnenset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921775" y="5398591"/>
            <a:ext cx="485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/ Monat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514600"/>
            <a:ext cx="50482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Unsere </a:t>
            </a:r>
            <a:r>
              <a:rPr b="0" i="0" lang="en-US" sz="4200" u="none" cap="none" strike="noStrike">
                <a:solidFill>
                  <a:srgbClr val="C8A88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Kunden.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2529185"/>
            <a:ext cx="50482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D2C- und E-Commerce-Marken in Deutschland und der EU.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3607296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Segment: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Beauty · Skincare · Health · Lifestyle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62000" y="4132957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Vertrieb: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Shopify, Amazon, eigener Shop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62000" y="4658617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Ad-Budget: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10.000 – 150.000 € pro Monat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62000" y="5184278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Entscheider: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Founder, CMO, Head of Performance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800850" y="2895600"/>
            <a:ext cx="446055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Maria K.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800850" y="3295650"/>
            <a:ext cx="4248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8A882"/>
                </a:solidFill>
                <a:latin typeface="Inter Medium"/>
                <a:ea typeface="Inter Medium"/>
                <a:cs typeface="Inter Medium"/>
                <a:sym typeface="Inter Medium"/>
              </a:rPr>
              <a:t>CMO, D2C SKINCARE BRAND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800850" y="3724275"/>
            <a:ext cx="4248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Standort:</a:t>
            </a:r>
            <a:r>
              <a:rPr b="0" i="0" lang="en-US" sz="13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Berlin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800850" y="4067175"/>
            <a:ext cx="4248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Ad-Spend:</a:t>
            </a:r>
            <a:r>
              <a:rPr b="0" i="0" lang="en-US" sz="13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50.000 € / Monat (Meta Ads)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800850" y="4410075"/>
            <a:ext cx="42481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3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Creative Fatigue, fallende CTR, keine internen Ressourcen für High-End Produktion.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3388072"/>
            <a:ext cx="2047875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5375" y="3388072"/>
            <a:ext cx="181927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Von der Hypothese zur </a:t>
            </a:r>
            <a:r>
              <a:rPr b="0" i="0" lang="en-US" sz="4200" u="none" cap="none" strike="noStrike">
                <a:solidFill>
                  <a:srgbClr val="C8A88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Performance.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762000" y="2039838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Ausgangslage: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Skincare-Produkt auf Meta. Ziel: CTR steigern, CPC senken.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2900660"/>
            <a:ext cx="5143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Die Methodik: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286500" y="2730847"/>
            <a:ext cx="5400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Die Ergebnisse: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286500" y="4769197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"Die KI-Hintergrund-Variante (Hook C) übertraf das Standard-Creative um ein Vielfaches in der Attention-Rate."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38200" y="3427273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52500" y="3426321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 Creative-Hypothesen (Textur, Model, KI-Komposition)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38200" y="4192845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52500" y="4191892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 Shooting-Tag, 10 Ad-Creatives produziert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38200" y="4623256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52500" y="4622303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KI-generierte Hintergründe via Midjourney (4 Varianten)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38200" y="5388828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952500" y="5387875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A/B-Test Setup im Meta Ads Manager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581775" y="3588097"/>
            <a:ext cx="1457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8A8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+34%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581775" y="4092922"/>
            <a:ext cx="1457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Inter"/>
                <a:ea typeface="Inter"/>
                <a:cs typeface="Inter"/>
                <a:sym typeface="Inter"/>
              </a:rPr>
              <a:t>CTR STEIGERUNG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010650" y="3588097"/>
            <a:ext cx="1228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8A8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-22%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010650" y="4092922"/>
            <a:ext cx="122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Inter"/>
                <a:ea typeface="Inter"/>
                <a:cs typeface="Inter"/>
                <a:sym typeface="Inter"/>
              </a:rPr>
              <a:t>CPC SENKUNG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C8A88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Vier Menschen. Eine Idee. Echter Antrieb.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0527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0527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4148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4148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1333500" y="2852737"/>
            <a:ext cx="337042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F0E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Olha Yevtushenko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1333500" y="3233737"/>
            <a:ext cx="3209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8A882"/>
                </a:solidFill>
                <a:latin typeface="Inter Medium"/>
                <a:ea typeface="Inter Medium"/>
                <a:cs typeface="Inter Medium"/>
                <a:sym typeface="Inter Medium"/>
              </a:rPr>
              <a:t>Performance Marketerin &amp; Creative Strategin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333500" y="3471862"/>
            <a:ext cx="3209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Hamburg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858000" y="2852737"/>
            <a:ext cx="26603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F0E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Denys Demyanyshyn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858000" y="3233737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8A882"/>
                </a:solidFill>
                <a:latin typeface="Inter Medium"/>
                <a:ea typeface="Inter Medium"/>
                <a:cs typeface="Inter Medium"/>
                <a:sym typeface="Inter Medium"/>
              </a:rPr>
              <a:t>Campaign Manager &amp; Marketing-AI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858000" y="3471862"/>
            <a:ext cx="2533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Performance &amp; Data Analytics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381125" y="4214812"/>
            <a:ext cx="22602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F0E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Ralph Kindermann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381125" y="4595812"/>
            <a:ext cx="2152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8A882"/>
                </a:solidFill>
                <a:latin typeface="Inter Medium"/>
                <a:ea typeface="Inter Medium"/>
                <a:cs typeface="Inter Medium"/>
                <a:sym typeface="Inter Medium"/>
              </a:rPr>
              <a:t>CRM &amp; Lifecycle Marketing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381125" y="4833937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Customer Journey Strategy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905625" y="4214812"/>
            <a:ext cx="219027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F0E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Yahya Yildirim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905625" y="4595812"/>
            <a:ext cx="2085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8A882"/>
                </a:solidFill>
                <a:latin typeface="Inter Medium"/>
                <a:ea typeface="Inter Medium"/>
                <a:cs typeface="Inter Medium"/>
                <a:sym typeface="Inter Medium"/>
              </a:rPr>
              <a:t>Growth &amp; Inbound Marketing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905625" y="4833937"/>
            <a:ext cx="20859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Berlin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529036"/>
            <a:ext cx="3302049" cy="29905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5049" y="2529036"/>
            <a:ext cx="3302049" cy="29905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529036"/>
            <a:ext cx="3302049" cy="299055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Der Markt ist bereit. </a:t>
            </a:r>
            <a:r>
              <a:rPr b="0" i="0" lang="en-US" sz="4200" u="none" cap="none" strike="noStrike">
                <a:solidFill>
                  <a:srgbClr val="C8A88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Wir auch.</a:t>
            </a:r>
            <a:endParaRPr/>
          </a:p>
        </p:txBody>
      </p:sp>
      <p:pic>
        <p:nvPicPr>
          <p:cNvPr descr="image.png" id="238" name="Google Shape;23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852886"/>
            <a:ext cx="31115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857250" y="3500586"/>
            <a:ext cx="3267127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100+ Mrd. €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857250" y="3990082"/>
            <a:ext cx="311154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E-Commerce in Deutschland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857250" y="4359622"/>
            <a:ext cx="31115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Beauty &amp; Personal Care gehört zu den wachstumsstärksten und visuell anspruchsvollsten Segmenten.</a:t>
            </a:r>
            <a:endParaRPr/>
          </a:p>
        </p:txBody>
      </p:sp>
      <p:pic>
        <p:nvPicPr>
          <p:cNvPr descr="image.png" id="242" name="Google Shape;24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40299" y="2852886"/>
            <a:ext cx="31115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4540299" y="3500586"/>
            <a:ext cx="3267127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Der neue Hebel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540299" y="3990082"/>
            <a:ext cx="311154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Performance Creative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4540299" y="4359622"/>
            <a:ext cx="31115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Targeting ist zunehmend automatisiert. Der einzige verbleibende Wettbewerbsvorteil liegt im Visual.</a:t>
            </a:r>
            <a:endParaRPr/>
          </a:p>
        </p:txBody>
      </p:sp>
      <p:pic>
        <p:nvPicPr>
          <p:cNvPr descr="image.png" id="246" name="Google Shape;24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3349" y="2852886"/>
            <a:ext cx="31115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8223349" y="3500586"/>
            <a:ext cx="3267127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KI-Disruption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223349" y="3990082"/>
            <a:ext cx="311154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Effizienz &amp; Skalierbarkeit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8223349" y="4359622"/>
            <a:ext cx="31115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Wer KI richtig in die Produktion einsetzt, senkt Kosten drastisch und steigert gleichzeitig die Variationstiefe für Tests.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C8A88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Was als nächstes passiert.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1295400" y="4014787"/>
            <a:ext cx="9601200" cy="19050"/>
          </a:xfrm>
          <a:prstGeom prst="rect">
            <a:avLst/>
          </a:prstGeom>
          <a:solidFill>
            <a:srgbClr val="C8A8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1828800" y="2824460"/>
            <a:ext cx="8534400" cy="19050"/>
          </a:xfrm>
          <a:prstGeom prst="rect">
            <a:avLst/>
          </a:prstGeom>
          <a:solidFill>
            <a:srgbClr val="C8A8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1047750" y="268158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C8A8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1047750" y="3205460"/>
            <a:ext cx="31336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0E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Monat 1 </a:t>
            </a:r>
            <a:r>
              <a:rPr b="0" i="0" lang="en-US" sz="1800" u="none" cap="none" strike="noStrike">
                <a:solidFill>
                  <a:srgbClr val="8888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(Jetzt)</a:t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4603700" y="268158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19050">
            <a:solidFill>
              <a:srgbClr val="C8A8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4603700" y="3205460"/>
            <a:ext cx="31336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0E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Monate 2–6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8159650" y="268158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1905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8159650" y="3205460"/>
            <a:ext cx="31336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0E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Ab Monat 7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1047750" y="3653135"/>
            <a:ext cx="2984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Business- &amp; Marketingplan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1047750" y="4064496"/>
            <a:ext cx="2984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Marke &amp; Präsenz aufgebaut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047750" y="4811017"/>
            <a:ext cx="2984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Pilot-Case produziert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1047750" y="5222378"/>
            <a:ext cx="2984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DCI-Abschluss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4603700" y="3653135"/>
            <a:ext cx="2984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Erste bezahlte Kunden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4603700" y="4064496"/>
            <a:ext cx="2984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Retainer-Strukturen aufbauen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4603700" y="4811017"/>
            <a:ext cx="2984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Cases veröffentlichen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8159650" y="3653135"/>
            <a:ext cx="2984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Skalierung &amp; Retainer-Fokus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8159650" y="4399657"/>
            <a:ext cx="2984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Teamaufbau (Producer, Editor)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8159650" y="5146178"/>
            <a:ext cx="2984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"Creative OS" Systematik</a:t>
            </a:r>
            <a:endParaRPr/>
          </a:p>
        </p:txBody>
      </p:sp>
      <p:pic>
        <p:nvPicPr>
          <p:cNvPr descr="image.png"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370552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4116883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486340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274766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3700" y="370552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3700" y="4116883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3700" y="486340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370552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445204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5198566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7712" y="4501306"/>
            <a:ext cx="307657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 txBox="1"/>
          <p:nvPr/>
        </p:nvSpPr>
        <p:spPr>
          <a:xfrm>
            <a:off x="3390661" y="1261169"/>
            <a:ext cx="5410676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0E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Algorithm of Soul.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3228975" y="2261294"/>
            <a:ext cx="57340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8A882"/>
                </a:solidFill>
                <a:latin typeface="Inter Light"/>
                <a:ea typeface="Inter Light"/>
                <a:cs typeface="Inter Light"/>
                <a:sym typeface="Inter Light"/>
              </a:rPr>
              <a:t>PERFORMANCE. KREATIVITÄT. SYSTEM.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2762250" y="3259484"/>
            <a:ext cx="6667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5E0DB"/>
                </a:solidFill>
                <a:latin typeface="Inter Light"/>
                <a:ea typeface="Inter Light"/>
                <a:cs typeface="Inter Light"/>
                <a:sym typeface="Inter Light"/>
              </a:rPr>
              <a:t>Wir suchen Brands, die ihre Creatives auf das nächste Level heben wollen. Wir suchen Partner, die gemeinsam wachsen wollen.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4557712" y="4891831"/>
            <a:ext cx="3076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hello@algorithmofsoul.com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557712" y="5291881"/>
            <a:ext cx="3076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 instagram.com/algorithmofsoul</a:t>
            </a:r>
            <a:endParaRPr/>
          </a:p>
        </p:txBody>
      </p:sp>
      <p:pic>
        <p:nvPicPr>
          <p:cNvPr descr="image.png" id="294" name="Google Shape;29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5350" y="494898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7712" y="5349031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C8A88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Image Sources</a:t>
            </a:r>
            <a:endParaRPr/>
          </a:p>
        </p:txBody>
      </p:sp>
      <p:sp>
        <p:nvSpPr>
          <p:cNvPr id="302" name="Google Shape;302;p25"/>
          <p:cNvSpPr/>
          <p:nvPr/>
        </p:nvSpPr>
        <p:spPr>
          <a:xfrm>
            <a:off x="762000" y="2752873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762000" y="3537644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762000" y="352811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762000" y="352811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762000" y="431289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762000" y="431289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8" name="Google Shape;3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02297"/>
            <a:ext cx="1409700" cy="100548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 txBox="1"/>
          <p:nvPr/>
        </p:nvSpPr>
        <p:spPr>
          <a:xfrm>
            <a:off x="1857375" y="2895748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https://thumbs.wbm.im/pw/medium/f13766d504eb6a1b4df4e02d923fe5df.png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1857375" y="3141464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 Light"/>
                <a:ea typeface="Inter Light"/>
                <a:cs typeface="Inter Light"/>
                <a:sym typeface="Inter Light"/>
              </a:rPr>
              <a:t>pikwizard.com</a:t>
            </a:r>
            <a:endParaRPr/>
          </a:p>
        </p:txBody>
      </p:sp>
      <p:pic>
        <p:nvPicPr>
          <p:cNvPr descr="image.png" id="311" name="Google Shape;31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870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1857375" y="3680519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https://stored-cf.slickpic.com/Mjg1ODI1MDZmMThjNTg,/20211226/MTgzMDEyMjUxODhj/pn/600/stunning-editorial-portrait-model-jewelry.jpg.webp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1857375" y="3926234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 Light"/>
                <a:ea typeface="Inter Light"/>
                <a:cs typeface="Inter Light"/>
                <a:sym typeface="Inter Light"/>
              </a:rPr>
              <a:t>lindsayadlerphotography.com</a:t>
            </a:r>
            <a:endParaRPr/>
          </a:p>
        </p:txBody>
      </p:sp>
      <p:pic>
        <p:nvPicPr>
          <p:cNvPr descr="image.png" id="314" name="Google Shape;31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709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/>
        </p:nvSpPr>
        <p:spPr>
          <a:xfrm>
            <a:off x="1857375" y="4465290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https://png.pngtree.com/thumb_back/fw800/background/20251029/pngtree-luxury-skincare-products-serum-face-cream-and-eye-displayed-on-a-image_20116276.webp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1857375" y="4909095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Inter Light"/>
                <a:ea typeface="Inter Light"/>
                <a:cs typeface="Inter Light"/>
                <a:sym typeface="Inter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 Light"/>
                <a:ea typeface="Inter Light"/>
                <a:cs typeface="Inter Light"/>
                <a:sym typeface="Inter Light"/>
              </a:rPr>
              <a:t>pngtree.com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