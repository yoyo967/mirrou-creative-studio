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 Tag und herzlich willkommen zur Abschlusspräsentation von Mirrou Creative Studio. Mein Name ist Yahya Yildirim, und gemeinsam mit meinen Partnern Olha Yevtushenko, Denys Demyanyshyn und Ralph Kindermann präsentieren wir Ihnen heute den Aufbau einer KI-integrierten Performance Creative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ein verteiltes Team über zwei Großstädte hinweg fehlerfrei zu orchestrieren, arbeiten wir nach dem Prinzip einer Frontier Firm. Das bedeutet: Wir setzen nicht auf klassische, träge Strukturen, sondern auf ein digitales, hochgradig automatisiertes Betriebssystem. In Hamburg steuern Olha die visuelle Exzellenz und Denys die Performance-Daten. In Berlin übernehmen Yahya die Inbound-Tech-Architektur und ich das CRM-System sowie die Standard Operating Procedures.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Grund für Mirrou liegt in einem lautlosen Killer im Paid-Social-Bereich: Creative Fatigue. Beauty-, Health- und Lifestyle-Marken im DACH-Raum stoßen ab einem Monats-Spend von 20.000 Euro an ein unsichtbares Limit. Daten aus dem Meta-Ecosystem zeigen, dass Werbemittel bereits nach 14 bis 28 Tagen ausbrennen. Das führt zu einem dramatischen Klickraten-Einbruch von 35 bis 55 Prozent und einem gleichzeitigen Anstieg der CPC-Kosten um bis zu 70 Prozent.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Unsere Positionierung lässt sich in unserem Leitmotiv zusammenfassen: Algorithm of Soul. Wo Ästhetik Algorithmus wird. Wir kombinieren die emotionale, künstlerische Seele eines Premium-Markenbildes mit der kalten Datenlogik des Algorithmus. Unser Angebot richtet sich an D2C-Brands mit 10.000 bis 150.000 Euro monatlichem Ad-Spend.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diesen kontinuierlichen Output ohne massiven Personalüberhang zu liefern, haben wir die Frontier-Firm-Architektur implementiert. Sie basiert auf vier Schichten: Dem Intelligence Layer über Perplexity Spaces, dem Production Layer über Adobe und Midjourney, dem Infrastructure Layer auf der Google Cloud und dem Performance Layer über die Werbemanager. Wir arbeiten nach dem Perfect Twin-Prinzip: Jeder menschliche Spezialist wird durch ein maßgeschneidertes KI-Pendant erweitert.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 Creative Director ist meine Aufgabe, Mirrous Identität visuell spürbar zu machen. Wir nutzen einen restriktiven Design Code namens Dark Luxury. Die Basis bildet ein sattes Deep Onyx (#080808) für maximale visuelle Ruhe. Muted Gold (#C8A25A) setzen wir extrem kontrolliert als Akzent ein. Unsere Typografie kombiniert die luxuriöse Display-Serif Cormorant Garamond mit der präzisen serifenlosen Inter und technischen Details in JetBrains Mono.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unsere visuelle und strategische Bandbreite zu beweisen, haben wir vier Demo-Cases entwickelt: Luminous Aura zeigt ein Premium-Serum auf dunklem Marmor. Vitality Pulse setzt auf kinetische Energie für TikTok. Essence Drift nutzt Nebel für emotionales Storytelling. Neural Glow ist vollständig KI-generiert und beweist, dass wir auch synthetische Welten fotorealistisch beherrschen.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Unser Kernprozess ist die Hybrid Production. Wir trennen das Produkt von seiner Umgebung: Das physische Produkt wird real fotografiert. Die Hintergründe werden digital per Midjourney oder Adobe Firefly gerendert. Die Produktion schrumpft von 6 Tagen auf 4 Stunden. Alle hybriden Assets werden mit C2PA-Metadaten versehen für EU AI Act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 Performance Manager übersetze ich Olhas Kreation in messbare Werbe-KPIs. Wir verteilen das Mediabudget strategisch auf 5 Kanäle: 40% Meta Ads, 25% TikTok Ads, 20% Google Search, 10% E-Mail-Marketing, 5% LinkedIn B2B.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Dafür nutzen wir unseren geschlossenen Datenkreislauf, den 5-Schritt-Algorithmus. Er startet mit dem Creative Audit zur Fatigue-Erkennung. Daraufhin formulieren wir 3 Performance-Hypothesen. Wir testen mit minimalem Budget-Split über 5 Tage. Erst nach statistischer Signifikanz skalieren wir die Gewinner.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Kampagnen-Launch folgt einem strikten 25-Tage-Testplan. Sprint 1 (Tag 1-8): Pixel-Tracking, Audiences, Baseline. Sprint 2 (Tag 9-16): A/B-Tests für Hooks und Landingpages. Sprint 3 (Tag 17-25): Gewinner skalieren. Feste Rules-Engines eliminieren emotionale Entscheidungen beim Media-Buying.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die generierten Leads verlustfrei zu konvertieren, nutzen wir zwei Pfade im CRM. Pfad 1 Inbound: Kunde sieht Ad, landet auf mirrou.studio, bucht Strategiegespräch. Pfad 2 Outbound: Wir recherchieren aktive Ads von Skincare-Brands, erstellen ein personalisiertes Video-Audit und kontaktieren den CMO auf LinkedIn.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Dafür haben wir HubSpot Starter als CRM implementiert. Unsere Pipeline hat 7 Stufen: Vom Inbound Lead über den Intro Call und das Creative Audit bis zum Angebot und Closed Won. Ein automatisierter Qualifizierungs-Score vergibt Punkte für Ad-Spend, Branche und Erreichbarkeit. Leads mit Score 8+ triggern sofort einen Slack-Alarm.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Qualität entsteht durch Wiederholbarkeit. Deshalb haben wir ein strukturiertes Betriebssystem mit 4 Kernordnern aufgebaut: Growth, Production, Operations und Client Records. Jedes Teammitglied arbeitet nach festen Standard Operating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Mirrou ist voll einsatzbereit. Unsere Plattform basiert auf React 19 mit Vite 6, TypeScript und Tailwind CSS v4, deployed über Docker auf GCP Cloud Run in Frankfurt. Ab August 2026 tritt die KI-Kennzeichnungspflicht des EU AI Acts voll in Kraft. Mirrou ist durch C2PA-Metadaten und unsere Labeling-Matrix bereits heute vollständig compliant.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14400" y="1371600"/>
            <a:ext cx="10332720" cy="457200"/>
          </a:xfrm>
          <a:prstGeom prst="rect">
            <a:avLst/>
          </a:prstGeom>
          <a:noFill/>
        </p:spPr>
        <p:txBody>
          <a:bodyPr wrap="square">
            <a:spAutoFit/>
          </a:bodyPr>
          <a:lstStyle/>
          <a:p>
            <a:pPr algn="ctr">
              <a:defRPr sz="1200" b="1" i="0">
                <a:solidFill>
                  <a:srgbClr val="C8A25A"/>
                </a:solidFill>
                <a:latin typeface="JetBrains Mono"/>
              </a:defRPr>
            </a:pPr>
            <a:r>
              <a:t>MIRROU CREATIVE STUDIO</a:t>
            </a:r>
          </a:p>
        </p:txBody>
      </p:sp>
      <p:sp>
        <p:nvSpPr>
          <p:cNvPr id="3" name="TextBox 2"/>
          <p:cNvSpPr txBox="1"/>
          <p:nvPr/>
        </p:nvSpPr>
        <p:spPr>
          <a:xfrm>
            <a:off x="914400" y="2103120"/>
            <a:ext cx="10332720" cy="1097280"/>
          </a:xfrm>
          <a:prstGeom prst="rect">
            <a:avLst/>
          </a:prstGeom>
          <a:noFill/>
        </p:spPr>
        <p:txBody>
          <a:bodyPr wrap="square">
            <a:spAutoFit/>
          </a:bodyPr>
          <a:lstStyle/>
          <a:p>
            <a:pPr algn="ctr">
              <a:defRPr sz="4000" b="0" i="1">
                <a:solidFill>
                  <a:srgbClr val="F2EFE9"/>
                </a:solidFill>
                <a:latin typeface="Cormorant Garamond"/>
              </a:defRPr>
            </a:pPr>
            <a:r>
              <a:t>Aufbau einer KI-integrierten</a:t>
            </a:r>
            <a:br/>
            <a:r>
              <a:t>Performance Creative Agency</a:t>
            </a:r>
          </a:p>
        </p:txBody>
      </p:sp>
      <p:sp>
        <p:nvSpPr>
          <p:cNvPr id="4" name="Rectangle 3"/>
          <p:cNvSpPr/>
          <p:nvPr/>
        </p:nvSpPr>
        <p:spPr>
          <a:xfrm>
            <a:off x="5029200" y="3383280"/>
            <a:ext cx="210312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749039"/>
            <a:ext cx="10332720" cy="731520"/>
          </a:xfrm>
          <a:prstGeom prst="rect">
            <a:avLst/>
          </a:prstGeom>
          <a:noFill/>
        </p:spPr>
        <p:txBody>
          <a:bodyPr wrap="square">
            <a:spAutoFit/>
          </a:bodyPr>
          <a:lstStyle/>
          <a:p>
            <a:pPr algn="ctr">
              <a:defRPr sz="1600" b="0" i="0">
                <a:solidFill>
                  <a:srgbClr val="B8B4AE"/>
                </a:solidFill>
                <a:latin typeface="Inter"/>
              </a:defRPr>
            </a:pPr>
            <a:r>
              <a:t>Frontier Firm Architektur · Hybrid Production · EU AI Act-Compliance</a:t>
            </a:r>
          </a:p>
        </p:txBody>
      </p:sp>
      <p:sp>
        <p:nvSpPr>
          <p:cNvPr id="6" name="TextBox 5"/>
          <p:cNvSpPr txBox="1"/>
          <p:nvPr/>
        </p:nvSpPr>
        <p:spPr>
          <a:xfrm>
            <a:off x="914400" y="4754880"/>
            <a:ext cx="10332720" cy="548640"/>
          </a:xfrm>
          <a:prstGeom prst="rect">
            <a:avLst/>
          </a:prstGeom>
          <a:noFill/>
        </p:spPr>
        <p:txBody>
          <a:bodyPr wrap="square">
            <a:spAutoFit/>
          </a:bodyPr>
          <a:lstStyle/>
          <a:p>
            <a:pPr algn="ctr">
              <a:defRPr sz="1400" b="0" i="0">
                <a:solidFill>
                  <a:srgbClr val="6E6B66"/>
                </a:solidFill>
                <a:latin typeface="Inter"/>
              </a:defRPr>
            </a:pPr>
            <a:r>
              <a:t>Olha Yevtushenko  ·  Denys Demyanyshyn  ·  Ralph Kindermann  ·  Yahya Yildirim</a:t>
            </a:r>
          </a:p>
        </p:txBody>
      </p:sp>
      <p:sp>
        <p:nvSpPr>
          <p:cNvPr id="7" name="TextBox 6"/>
          <p:cNvSpPr txBox="1"/>
          <p:nvPr/>
        </p:nvSpPr>
        <p:spPr>
          <a:xfrm>
            <a:off x="914400" y="5394960"/>
            <a:ext cx="10332720" cy="457200"/>
          </a:xfrm>
          <a:prstGeom prst="rect">
            <a:avLst/>
          </a:prstGeom>
          <a:noFill/>
        </p:spPr>
        <p:txBody>
          <a:bodyPr wrap="square">
            <a:spAutoFit/>
          </a:bodyPr>
          <a:lstStyle/>
          <a:p>
            <a:pPr algn="ctr">
              <a:defRPr sz="1100" b="0" i="0">
                <a:solidFill>
                  <a:srgbClr val="6E6B66"/>
                </a:solidFill>
                <a:latin typeface="JetBrains Mono"/>
              </a:defRPr>
            </a:pPr>
            <a:r>
              <a:t>DCI Digital Career Institute · Abschlussprojekt 2026</a:t>
            </a:r>
          </a:p>
        </p:txBody>
      </p:sp>
      <p:sp>
        <p:nvSpPr>
          <p:cNvPr id="8" name="TextBox 7"/>
          <p:cNvSpPr txBox="1"/>
          <p:nvPr/>
        </p:nvSpPr>
        <p:spPr>
          <a:xfrm>
            <a:off x="914400" y="5943600"/>
            <a:ext cx="10332720" cy="365760"/>
          </a:xfrm>
          <a:prstGeom prst="rect">
            <a:avLst/>
          </a:prstGeom>
          <a:noFill/>
        </p:spPr>
        <p:txBody>
          <a:bodyPr wrap="square">
            <a:spAutoFit/>
          </a:bodyPr>
          <a:lstStyle/>
          <a:p>
            <a:pPr algn="ctr">
              <a:defRPr sz="1800" b="0" i="1">
                <a:solidFill>
                  <a:srgbClr val="C8A25A"/>
                </a:solidFill>
                <a:latin typeface="Cormorant Garamond"/>
              </a:defRPr>
            </a:pPr>
            <a:r>
              <a:t>Algorithm of Soul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D8D3CB"/>
                </a:solidFill>
                <a:latin typeface="JetBrains Mono"/>
              </a:defRPr>
            </a:pPr>
            <a:r>
              <a:t>SPRECHER: RALPH</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02 · DAS MIRROU-BETRIEBSSYSTEM</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Zwei Städte. Ein System.</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77440"/>
            <a:ext cx="4572000" cy="365760"/>
          </a:xfrm>
          <a:prstGeom prst="rect">
            <a:avLst/>
          </a:prstGeom>
          <a:noFill/>
        </p:spPr>
        <p:txBody>
          <a:bodyPr wrap="square">
            <a:spAutoFit/>
          </a:bodyPr>
          <a:lstStyle/>
          <a:p>
            <a:pPr algn="l">
              <a:defRPr sz="1200" b="1" i="0">
                <a:solidFill>
                  <a:srgbClr val="C8A25A"/>
                </a:solidFill>
                <a:latin typeface="JetBrains Mono"/>
              </a:defRPr>
            </a:pPr>
            <a:r>
              <a:t>HAMBURG</a:t>
            </a:r>
          </a:p>
        </p:txBody>
      </p:sp>
      <p:sp>
        <p:nvSpPr>
          <p:cNvPr id="7" name="TextBox 6"/>
          <p:cNvSpPr txBox="1"/>
          <p:nvPr/>
        </p:nvSpPr>
        <p:spPr>
          <a:xfrm>
            <a:off x="731520" y="2834640"/>
            <a:ext cx="4572000" cy="1828800"/>
          </a:xfrm>
          <a:prstGeom prst="rect">
            <a:avLst/>
          </a:prstGeom>
          <a:noFill/>
        </p:spPr>
        <p:txBody>
          <a:bodyPr wrap="square">
            <a:spAutoFit/>
          </a:bodyPr>
          <a:lstStyle/>
          <a:p>
            <a:pPr>
              <a:spcAft>
                <a:spcPts val="400"/>
              </a:spcAft>
              <a:defRPr sz="1500" b="1">
                <a:solidFill>
                  <a:srgbClr val="E07A5F"/>
                </a:solidFill>
                <a:latin typeface="Inter"/>
              </a:defRPr>
            </a:pPr>
            <a:r>
              <a:t>Olha Yevtushenko — Creative Direction</a:t>
            </a:r>
          </a:p>
          <a:p>
            <a:pPr>
              <a:spcAft>
                <a:spcPts val="400"/>
              </a:spcAft>
              <a:defRPr sz="1300" b="0">
                <a:solidFill>
                  <a:srgbClr val="B8B4AE"/>
                </a:solidFill>
                <a:latin typeface="Inter"/>
              </a:defRPr>
            </a:pPr>
            <a:r>
              <a:t>Design-System, Hybrid Production, Visual Identity</a:t>
            </a:r>
          </a:p>
          <a:p>
            <a:pPr>
              <a:spcAft>
                <a:spcPts val="400"/>
              </a:spcAft>
              <a:defRPr sz="800" b="0">
                <a:solidFill>
                  <a:srgbClr val="F2EFE9"/>
                </a:solidFill>
                <a:latin typeface="Inter"/>
              </a:defRPr>
            </a:pPr>
          </a:p>
          <a:p>
            <a:pPr>
              <a:spcAft>
                <a:spcPts val="400"/>
              </a:spcAft>
              <a:defRPr sz="1500" b="1">
                <a:solidFill>
                  <a:srgbClr val="4A90E2"/>
                </a:solidFill>
                <a:latin typeface="Inter"/>
              </a:defRPr>
            </a:pPr>
            <a:r>
              <a:t>Denys Demyanyshyn — Performance &amp; Analytics</a:t>
            </a:r>
          </a:p>
          <a:p>
            <a:pPr>
              <a:spcAft>
                <a:spcPts val="400"/>
              </a:spcAft>
              <a:defRPr sz="1300" b="0">
                <a:solidFill>
                  <a:srgbClr val="B8B4AE"/>
                </a:solidFill>
                <a:latin typeface="Inter"/>
              </a:defRPr>
            </a:pPr>
            <a:r>
              <a:t>Creative Testing, KPI-Frameworks, Daten-Loop</a:t>
            </a:r>
          </a:p>
        </p:txBody>
      </p:sp>
      <p:sp>
        <p:nvSpPr>
          <p:cNvPr id="8" name="TextBox 7"/>
          <p:cNvSpPr txBox="1"/>
          <p:nvPr/>
        </p:nvSpPr>
        <p:spPr>
          <a:xfrm>
            <a:off x="6400800" y="2377440"/>
            <a:ext cx="4572000" cy="365760"/>
          </a:xfrm>
          <a:prstGeom prst="rect">
            <a:avLst/>
          </a:prstGeom>
          <a:noFill/>
        </p:spPr>
        <p:txBody>
          <a:bodyPr wrap="square">
            <a:spAutoFit/>
          </a:bodyPr>
          <a:lstStyle/>
          <a:p>
            <a:pPr algn="l">
              <a:defRPr sz="1200" b="1" i="0">
                <a:solidFill>
                  <a:srgbClr val="C8A25A"/>
                </a:solidFill>
                <a:latin typeface="JetBrains Mono"/>
              </a:defRPr>
            </a:pPr>
            <a:r>
              <a:t>BERLIN</a:t>
            </a:r>
          </a:p>
        </p:txBody>
      </p:sp>
      <p:sp>
        <p:nvSpPr>
          <p:cNvPr id="9" name="TextBox 8"/>
          <p:cNvSpPr txBox="1"/>
          <p:nvPr/>
        </p:nvSpPr>
        <p:spPr>
          <a:xfrm>
            <a:off x="6400800" y="2834640"/>
            <a:ext cx="5029200" cy="1828800"/>
          </a:xfrm>
          <a:prstGeom prst="rect">
            <a:avLst/>
          </a:prstGeom>
          <a:noFill/>
        </p:spPr>
        <p:txBody>
          <a:bodyPr wrap="square">
            <a:spAutoFit/>
          </a:bodyPr>
          <a:lstStyle/>
          <a:p>
            <a:pPr>
              <a:spcAft>
                <a:spcPts val="400"/>
              </a:spcAft>
              <a:defRPr sz="1500" b="1">
                <a:solidFill>
                  <a:srgbClr val="C8A25A"/>
                </a:solidFill>
                <a:latin typeface="Inter"/>
              </a:defRPr>
            </a:pPr>
            <a:r>
              <a:t>Yahya Yildirim — Growth &amp; Project Lead</a:t>
            </a:r>
          </a:p>
          <a:p>
            <a:pPr>
              <a:spcAft>
                <a:spcPts val="400"/>
              </a:spcAft>
              <a:defRPr sz="1300" b="0">
                <a:solidFill>
                  <a:srgbClr val="B8B4AE"/>
                </a:solidFill>
                <a:latin typeface="Inter"/>
              </a:defRPr>
            </a:pPr>
            <a:r>
              <a:t>Website, Frontier Firm, Inbound, Compliance</a:t>
            </a:r>
          </a:p>
          <a:p>
            <a:pPr>
              <a:spcAft>
                <a:spcPts val="400"/>
              </a:spcAft>
              <a:defRPr sz="800" b="0">
                <a:solidFill>
                  <a:srgbClr val="F2EFE9"/>
                </a:solidFill>
                <a:latin typeface="Inter"/>
              </a:defRPr>
            </a:pPr>
          </a:p>
          <a:p>
            <a:pPr>
              <a:spcAft>
                <a:spcPts val="400"/>
              </a:spcAft>
              <a:defRPr sz="1500" b="1">
                <a:solidFill>
                  <a:srgbClr val="D8D3CB"/>
                </a:solidFill>
                <a:latin typeface="Inter"/>
              </a:defRPr>
            </a:pPr>
            <a:r>
              <a:t>Ralph Kindermann — CRM &amp; Client Success</a:t>
            </a:r>
          </a:p>
          <a:p>
            <a:pPr>
              <a:spcAft>
                <a:spcPts val="400"/>
              </a:spcAft>
              <a:defRPr sz="1300" b="0">
                <a:solidFill>
                  <a:srgbClr val="B8B4AE"/>
                </a:solidFill>
                <a:latin typeface="Inter"/>
              </a:defRPr>
            </a:pPr>
            <a:r>
              <a:t>HubSpot, SOPs, Onboarding, Pipeline</a:t>
            </a:r>
          </a:p>
        </p:txBody>
      </p:sp>
      <p:sp>
        <p:nvSpPr>
          <p:cNvPr id="10" name="Rectangle 9"/>
          <p:cNvSpPr/>
          <p:nvPr/>
        </p:nvSpPr>
        <p:spPr>
          <a:xfrm>
            <a:off x="731520" y="5029200"/>
            <a:ext cx="1069848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03520"/>
            <a:ext cx="10698480" cy="1097280"/>
          </a:xfrm>
          <a:prstGeom prst="rect">
            <a:avLst/>
          </a:prstGeom>
          <a:noFill/>
        </p:spPr>
        <p:txBody>
          <a:bodyPr wrap="square">
            <a:spAutoFit/>
          </a:bodyPr>
          <a:lstStyle/>
          <a:p>
            <a:pPr algn="l">
              <a:defRPr sz="1200" b="0" i="0">
                <a:solidFill>
                  <a:srgbClr val="6E6B66"/>
                </a:solidFill>
                <a:latin typeface="JetBrains Mono"/>
              </a:defRPr>
            </a:pPr>
            <a:r>
              <a:t>AGENDA: Problem → Positionierung → Branding → Hybrid Workflow → Testing → CRM → Tech &amp;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C8A25A"/>
                </a:solidFill>
                <a:latin typeface="JetBrains Mono"/>
              </a:defRPr>
            </a:pPr>
            <a:r>
              <a:t>SPRECHER: YAHYA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03 · WHY — DAS KERNPROBLEM</a:t>
            </a:r>
          </a:p>
        </p:txBody>
      </p:sp>
      <p:sp>
        <p:nvSpPr>
          <p:cNvPr id="4" name="TextBox 3"/>
          <p:cNvSpPr txBox="1"/>
          <p:nvPr/>
        </p:nvSpPr>
        <p:spPr>
          <a:xfrm>
            <a:off x="731520" y="1097280"/>
            <a:ext cx="10058400" cy="914400"/>
          </a:xfrm>
          <a:prstGeom prst="rect">
            <a:avLst/>
          </a:prstGeom>
          <a:noFill/>
        </p:spPr>
        <p:txBody>
          <a:bodyPr wrap="square">
            <a:spAutoFit/>
          </a:bodyPr>
          <a:lstStyle/>
          <a:p>
            <a:pPr algn="l">
              <a:defRPr sz="3600" b="0" i="1">
                <a:solidFill>
                  <a:srgbClr val="F2EFE9"/>
                </a:solidFill>
                <a:latin typeface="Cormorant Garamond"/>
              </a:defRPr>
            </a:pPr>
            <a:r>
              <a:t>70 % des Kampagnenerfolgs</a:t>
            </a:r>
            <a:br/>
            <a:r>
              <a:t>hängt am Creative.</a:t>
            </a:r>
          </a:p>
        </p:txBody>
      </p:sp>
      <p:sp>
        <p:nvSpPr>
          <p:cNvPr id="5" name="Rectangle 4"/>
          <p:cNvSpPr/>
          <p:nvPr/>
        </p:nvSpPr>
        <p:spPr>
          <a:xfrm>
            <a:off x="731520" y="237744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926080"/>
            <a:ext cx="3291840" cy="20116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108960"/>
            <a:ext cx="2743200" cy="274320"/>
          </a:xfrm>
          <a:prstGeom prst="rect">
            <a:avLst/>
          </a:prstGeom>
          <a:noFill/>
        </p:spPr>
        <p:txBody>
          <a:bodyPr wrap="square">
            <a:spAutoFit/>
          </a:bodyPr>
          <a:lstStyle/>
          <a:p>
            <a:pPr algn="l">
              <a:defRPr sz="1000" b="1" i="0">
                <a:solidFill>
                  <a:srgbClr val="C8A25A"/>
                </a:solidFill>
                <a:latin typeface="JetBrains Mono"/>
              </a:defRPr>
            </a:pPr>
            <a:r>
              <a:t>CTR-EINBRUCH</a:t>
            </a:r>
          </a:p>
        </p:txBody>
      </p:sp>
      <p:sp>
        <p:nvSpPr>
          <p:cNvPr id="8" name="TextBox 7"/>
          <p:cNvSpPr txBox="1"/>
          <p:nvPr/>
        </p:nvSpPr>
        <p:spPr>
          <a:xfrm>
            <a:off x="1005840" y="3566160"/>
            <a:ext cx="2743200" cy="548640"/>
          </a:xfrm>
          <a:prstGeom prst="rect">
            <a:avLst/>
          </a:prstGeom>
          <a:noFill/>
        </p:spPr>
        <p:txBody>
          <a:bodyPr wrap="square">
            <a:spAutoFit/>
          </a:bodyPr>
          <a:lstStyle/>
          <a:p>
            <a:pPr algn="l">
              <a:defRPr sz="3200" b="1" i="0">
                <a:solidFill>
                  <a:srgbClr val="F2EFE9"/>
                </a:solidFill>
                <a:latin typeface="Cormorant Garamond"/>
              </a:defRPr>
            </a:pPr>
            <a:r>
              <a:t>−35–55 %</a:t>
            </a:r>
          </a:p>
        </p:txBody>
      </p:sp>
      <p:sp>
        <p:nvSpPr>
          <p:cNvPr id="9" name="TextBox 8"/>
          <p:cNvSpPr txBox="1"/>
          <p:nvPr/>
        </p:nvSpPr>
        <p:spPr>
          <a:xfrm>
            <a:off x="1005840" y="4206240"/>
            <a:ext cx="2743200" cy="457200"/>
          </a:xfrm>
          <a:prstGeom prst="rect">
            <a:avLst/>
          </a:prstGeom>
          <a:noFill/>
        </p:spPr>
        <p:txBody>
          <a:bodyPr wrap="square">
            <a:spAutoFit/>
          </a:bodyPr>
          <a:lstStyle/>
          <a:p>
            <a:pPr algn="l">
              <a:defRPr sz="1100" b="0" i="0">
                <a:solidFill>
                  <a:srgbClr val="B8B4AE"/>
                </a:solidFill>
                <a:latin typeface="Inter"/>
              </a:defRPr>
            </a:pPr>
            <a:r>
              <a:t>nach Fatigue-Onset (14–28 Tage)</a:t>
            </a:r>
          </a:p>
        </p:txBody>
      </p:sp>
      <p:sp>
        <p:nvSpPr>
          <p:cNvPr id="10" name="Rectangle 9"/>
          <p:cNvSpPr/>
          <p:nvPr/>
        </p:nvSpPr>
        <p:spPr>
          <a:xfrm>
            <a:off x="4480559" y="2926080"/>
            <a:ext cx="3291840" cy="20116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08960"/>
            <a:ext cx="2743200" cy="274320"/>
          </a:xfrm>
          <a:prstGeom prst="rect">
            <a:avLst/>
          </a:prstGeom>
          <a:noFill/>
        </p:spPr>
        <p:txBody>
          <a:bodyPr wrap="square">
            <a:spAutoFit/>
          </a:bodyPr>
          <a:lstStyle/>
          <a:p>
            <a:pPr algn="l">
              <a:defRPr sz="1000" b="1" i="0">
                <a:solidFill>
                  <a:srgbClr val="C8A25A"/>
                </a:solidFill>
                <a:latin typeface="JetBrains Mono"/>
              </a:defRPr>
            </a:pPr>
            <a:r>
              <a:t>CPC-ANSTIEG</a:t>
            </a:r>
          </a:p>
        </p:txBody>
      </p:sp>
      <p:sp>
        <p:nvSpPr>
          <p:cNvPr id="12" name="TextBox 11"/>
          <p:cNvSpPr txBox="1"/>
          <p:nvPr/>
        </p:nvSpPr>
        <p:spPr>
          <a:xfrm>
            <a:off x="4754879" y="3566160"/>
            <a:ext cx="2743200" cy="548640"/>
          </a:xfrm>
          <a:prstGeom prst="rect">
            <a:avLst/>
          </a:prstGeom>
          <a:noFill/>
        </p:spPr>
        <p:txBody>
          <a:bodyPr wrap="square">
            <a:spAutoFit/>
          </a:bodyPr>
          <a:lstStyle/>
          <a:p>
            <a:pPr algn="l">
              <a:defRPr sz="3200" b="1" i="0">
                <a:solidFill>
                  <a:srgbClr val="F2EFE9"/>
                </a:solidFill>
                <a:latin typeface="Cormorant Garamond"/>
              </a:defRPr>
            </a:pPr>
            <a:r>
              <a:t>+45–70 %</a:t>
            </a:r>
          </a:p>
        </p:txBody>
      </p:sp>
      <p:sp>
        <p:nvSpPr>
          <p:cNvPr id="13" name="TextBox 12"/>
          <p:cNvSpPr txBox="1"/>
          <p:nvPr/>
        </p:nvSpPr>
        <p:spPr>
          <a:xfrm>
            <a:off x="4754879" y="4206240"/>
            <a:ext cx="2743200" cy="457200"/>
          </a:xfrm>
          <a:prstGeom prst="rect">
            <a:avLst/>
          </a:prstGeom>
          <a:noFill/>
        </p:spPr>
        <p:txBody>
          <a:bodyPr wrap="square">
            <a:spAutoFit/>
          </a:bodyPr>
          <a:lstStyle/>
          <a:p>
            <a:pPr algn="l">
              <a:defRPr sz="1100" b="0" i="0">
                <a:solidFill>
                  <a:srgbClr val="B8B4AE"/>
                </a:solidFill>
                <a:latin typeface="Inter"/>
              </a:defRPr>
            </a:pPr>
            <a:r>
              <a:t>bei gleichem Targeting</a:t>
            </a:r>
          </a:p>
        </p:txBody>
      </p:sp>
      <p:sp>
        <p:nvSpPr>
          <p:cNvPr id="14" name="Rectangle 13"/>
          <p:cNvSpPr/>
          <p:nvPr/>
        </p:nvSpPr>
        <p:spPr>
          <a:xfrm>
            <a:off x="8229600" y="2926080"/>
            <a:ext cx="3291840" cy="20116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0" y="3108960"/>
            <a:ext cx="2743200" cy="274320"/>
          </a:xfrm>
          <a:prstGeom prst="rect">
            <a:avLst/>
          </a:prstGeom>
          <a:noFill/>
        </p:spPr>
        <p:txBody>
          <a:bodyPr wrap="square">
            <a:spAutoFit/>
          </a:bodyPr>
          <a:lstStyle/>
          <a:p>
            <a:pPr algn="l">
              <a:defRPr sz="1000" b="1" i="0">
                <a:solidFill>
                  <a:srgbClr val="C8A25A"/>
                </a:solidFill>
                <a:latin typeface="JetBrains Mono"/>
              </a:defRPr>
            </a:pPr>
            <a:r>
              <a:t>FATIGUE-ONSET</a:t>
            </a:r>
          </a:p>
        </p:txBody>
      </p:sp>
      <p:sp>
        <p:nvSpPr>
          <p:cNvPr id="16" name="TextBox 15"/>
          <p:cNvSpPr txBox="1"/>
          <p:nvPr/>
        </p:nvSpPr>
        <p:spPr>
          <a:xfrm>
            <a:off x="8503920" y="3566160"/>
            <a:ext cx="2743200" cy="548640"/>
          </a:xfrm>
          <a:prstGeom prst="rect">
            <a:avLst/>
          </a:prstGeom>
          <a:noFill/>
        </p:spPr>
        <p:txBody>
          <a:bodyPr wrap="square">
            <a:spAutoFit/>
          </a:bodyPr>
          <a:lstStyle/>
          <a:p>
            <a:pPr algn="l">
              <a:defRPr sz="3200" b="1" i="0">
                <a:solidFill>
                  <a:srgbClr val="F2EFE9"/>
                </a:solidFill>
                <a:latin typeface="Cormorant Garamond"/>
              </a:defRPr>
            </a:pPr>
            <a:r>
              <a:t>2–4 Wochen</a:t>
            </a:r>
          </a:p>
        </p:txBody>
      </p:sp>
      <p:sp>
        <p:nvSpPr>
          <p:cNvPr id="17" name="TextBox 16"/>
          <p:cNvSpPr txBox="1"/>
          <p:nvPr/>
        </p:nvSpPr>
        <p:spPr>
          <a:xfrm>
            <a:off x="8503920" y="4206240"/>
            <a:ext cx="2743200" cy="457200"/>
          </a:xfrm>
          <a:prstGeom prst="rect">
            <a:avLst/>
          </a:prstGeom>
          <a:noFill/>
        </p:spPr>
        <p:txBody>
          <a:bodyPr wrap="square">
            <a:spAutoFit/>
          </a:bodyPr>
          <a:lstStyle/>
          <a:p>
            <a:pPr algn="l">
              <a:defRPr sz="1100" b="0" i="0">
                <a:solidFill>
                  <a:srgbClr val="B8B4AE"/>
                </a:solidFill>
                <a:latin typeface="Inter"/>
              </a:defRPr>
            </a:pPr>
            <a:r>
              <a:t>bei 20–50 k€ / Monat Ad-Spend</a:t>
            </a:r>
          </a:p>
        </p:txBody>
      </p:sp>
      <p:sp>
        <p:nvSpPr>
          <p:cNvPr id="18" name="TextBox 17"/>
          <p:cNvSpPr txBox="1"/>
          <p:nvPr/>
        </p:nvSpPr>
        <p:spPr>
          <a:xfrm>
            <a:off x="731520" y="5303520"/>
            <a:ext cx="10058400" cy="731520"/>
          </a:xfrm>
          <a:prstGeom prst="rect">
            <a:avLst/>
          </a:prstGeom>
          <a:noFill/>
        </p:spPr>
        <p:txBody>
          <a:bodyPr wrap="square">
            <a:spAutoFit/>
          </a:bodyPr>
          <a:lstStyle/>
          <a:p>
            <a:pPr algn="l">
              <a:defRPr sz="1400" b="0" i="0">
                <a:solidFill>
                  <a:srgbClr val="6E6B66"/>
                </a:solidFill>
                <a:latin typeface="Inter"/>
              </a:defRPr>
            </a:pPr>
            <a:r>
              <a:t>Klassische Agenturen: zu langsam. Reine Performance-Agenturen: zu seelenlos.</a:t>
            </a:r>
            <a:br/>
            <a:r>
              <a:t>Niemand hat ein System für beides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C8A25A"/>
                </a:solidFill>
                <a:latin typeface="JetBrains Mono"/>
              </a:defRPr>
            </a:pPr>
            <a:r>
              <a:t>SPRECHER: YAHYA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04 · POSITIONIERUNG &amp; CLAIM</a:t>
            </a:r>
          </a:p>
        </p:txBody>
      </p:sp>
      <p:sp>
        <p:nvSpPr>
          <p:cNvPr id="4" name="TextBox 3"/>
          <p:cNvSpPr txBox="1"/>
          <p:nvPr/>
        </p:nvSpPr>
        <p:spPr>
          <a:xfrm>
            <a:off x="731520" y="1371600"/>
            <a:ext cx="10058400" cy="914400"/>
          </a:xfrm>
          <a:prstGeom prst="rect">
            <a:avLst/>
          </a:prstGeom>
          <a:noFill/>
        </p:spPr>
        <p:txBody>
          <a:bodyPr wrap="square">
            <a:spAutoFit/>
          </a:bodyPr>
          <a:lstStyle/>
          <a:p>
            <a:pPr algn="l">
              <a:defRPr sz="4800" b="0" i="1">
                <a:solidFill>
                  <a:srgbClr val="C8A25A"/>
                </a:solidFill>
                <a:latin typeface="Cormorant Garamond"/>
              </a:defRPr>
            </a:pPr>
            <a:r>
              <a:t>Algorithm of Soul</a:t>
            </a:r>
          </a:p>
        </p:txBody>
      </p:sp>
      <p:sp>
        <p:nvSpPr>
          <p:cNvPr id="5" name="TextBox 4"/>
          <p:cNvSpPr txBox="1"/>
          <p:nvPr/>
        </p:nvSpPr>
        <p:spPr>
          <a:xfrm>
            <a:off x="731520" y="2377440"/>
            <a:ext cx="7315200" cy="457200"/>
          </a:xfrm>
          <a:prstGeom prst="rect">
            <a:avLst/>
          </a:prstGeom>
          <a:noFill/>
        </p:spPr>
        <p:txBody>
          <a:bodyPr wrap="square">
            <a:spAutoFit/>
          </a:bodyPr>
          <a:lstStyle/>
          <a:p>
            <a:pPr algn="l">
              <a:defRPr sz="2000" b="0" i="0">
                <a:solidFill>
                  <a:srgbClr val="F2EFE9"/>
                </a:solidFill>
                <a:latin typeface="Inter"/>
              </a:defRPr>
            </a:pPr>
            <a:r>
              <a:t>Wo Ästhetik Algorithmus wird.</a:t>
            </a:r>
          </a:p>
        </p:txBody>
      </p:sp>
      <p:sp>
        <p:nvSpPr>
          <p:cNvPr id="6" name="Rectangle 5"/>
          <p:cNvSpPr/>
          <p:nvPr/>
        </p:nvSpPr>
        <p:spPr>
          <a:xfrm>
            <a:off x="731520" y="301752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3474720"/>
            <a:ext cx="3291840" cy="256032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57600"/>
            <a:ext cx="2743200" cy="274320"/>
          </a:xfrm>
          <a:prstGeom prst="rect">
            <a:avLst/>
          </a:prstGeom>
          <a:noFill/>
        </p:spPr>
        <p:txBody>
          <a:bodyPr wrap="square">
            <a:spAutoFit/>
          </a:bodyPr>
          <a:lstStyle/>
          <a:p>
            <a:pPr algn="l">
              <a:defRPr sz="1100" b="1" i="0">
                <a:solidFill>
                  <a:srgbClr val="C8A25A"/>
                </a:solidFill>
                <a:latin typeface="JetBrains Mono"/>
              </a:defRPr>
            </a:pPr>
            <a:r>
              <a:t>E-COMMERCE &amp; CATALOG</a:t>
            </a:r>
          </a:p>
        </p:txBody>
      </p:sp>
      <p:sp>
        <p:nvSpPr>
          <p:cNvPr id="9" name="TextBox 8"/>
          <p:cNvSpPr txBox="1"/>
          <p:nvPr/>
        </p:nvSpPr>
        <p:spPr>
          <a:xfrm>
            <a:off x="1005840" y="4114800"/>
            <a:ext cx="2743200" cy="914400"/>
          </a:xfrm>
          <a:prstGeom prst="rect">
            <a:avLst/>
          </a:prstGeom>
          <a:noFill/>
        </p:spPr>
        <p:txBody>
          <a:bodyPr wrap="square">
            <a:spAutoFit/>
          </a:bodyPr>
          <a:lstStyle/>
          <a:p>
            <a:pPr algn="l">
              <a:defRPr sz="1400" b="0" i="0">
                <a:solidFill>
                  <a:srgbClr val="B8B4AE"/>
                </a:solidFill>
                <a:latin typeface="Inter"/>
              </a:defRPr>
            </a:pPr>
            <a:r>
              <a:t>Einmalige Shootings</a:t>
            </a:r>
            <a:br/>
            <a:r>
              <a:t>Katalog-Pflege</a:t>
            </a:r>
          </a:p>
        </p:txBody>
      </p:sp>
      <p:sp>
        <p:nvSpPr>
          <p:cNvPr id="10" name="TextBox 9"/>
          <p:cNvSpPr txBox="1"/>
          <p:nvPr/>
        </p:nvSpPr>
        <p:spPr>
          <a:xfrm>
            <a:off x="1005840" y="5303520"/>
            <a:ext cx="2743200" cy="365760"/>
          </a:xfrm>
          <a:prstGeom prst="rect">
            <a:avLst/>
          </a:prstGeom>
          <a:noFill/>
        </p:spPr>
        <p:txBody>
          <a:bodyPr wrap="square">
            <a:spAutoFit/>
          </a:bodyPr>
          <a:lstStyle/>
          <a:p>
            <a:pPr algn="l">
              <a:defRPr sz="1600" b="1" i="0">
                <a:solidFill>
                  <a:srgbClr val="F2EFE9"/>
                </a:solidFill>
                <a:latin typeface="Inter"/>
              </a:defRPr>
            </a:pPr>
            <a:r>
              <a:t>ab 3.500 €</a:t>
            </a:r>
          </a:p>
        </p:txBody>
      </p:sp>
      <p:sp>
        <p:nvSpPr>
          <p:cNvPr id="11" name="Rectangle 10"/>
          <p:cNvSpPr/>
          <p:nvPr/>
        </p:nvSpPr>
        <p:spPr>
          <a:xfrm>
            <a:off x="4480559" y="3474720"/>
            <a:ext cx="3291840" cy="256032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79" y="3657600"/>
            <a:ext cx="2743200" cy="274320"/>
          </a:xfrm>
          <a:prstGeom prst="rect">
            <a:avLst/>
          </a:prstGeom>
          <a:noFill/>
        </p:spPr>
        <p:txBody>
          <a:bodyPr wrap="square">
            <a:spAutoFit/>
          </a:bodyPr>
          <a:lstStyle/>
          <a:p>
            <a:pPr algn="l">
              <a:defRPr sz="1100" b="1" i="0">
                <a:solidFill>
                  <a:srgbClr val="C8A25A"/>
                </a:solidFill>
                <a:latin typeface="JetBrains Mono"/>
              </a:defRPr>
            </a:pPr>
            <a:r>
              <a:t>SOCIAL &amp; ADVERTISING</a:t>
            </a:r>
          </a:p>
        </p:txBody>
      </p:sp>
      <p:sp>
        <p:nvSpPr>
          <p:cNvPr id="13" name="TextBox 12"/>
          <p:cNvSpPr txBox="1"/>
          <p:nvPr/>
        </p:nvSpPr>
        <p:spPr>
          <a:xfrm>
            <a:off x="4754879" y="4114800"/>
            <a:ext cx="2743200" cy="914400"/>
          </a:xfrm>
          <a:prstGeom prst="rect">
            <a:avLst/>
          </a:prstGeom>
          <a:noFill/>
        </p:spPr>
        <p:txBody>
          <a:bodyPr wrap="square">
            <a:spAutoFit/>
          </a:bodyPr>
          <a:lstStyle/>
          <a:p>
            <a:pPr algn="l">
              <a:defRPr sz="1400" b="0" i="0">
                <a:solidFill>
                  <a:srgbClr val="B8B4AE"/>
                </a:solidFill>
                <a:latin typeface="Inter"/>
              </a:defRPr>
            </a:pPr>
            <a:r>
              <a:t>Kampagnen-Launches</a:t>
            </a:r>
            <a:br/>
            <a:r>
              <a:t>Ad-Creative-Systeme</a:t>
            </a:r>
          </a:p>
        </p:txBody>
      </p:sp>
      <p:sp>
        <p:nvSpPr>
          <p:cNvPr id="14" name="TextBox 13"/>
          <p:cNvSpPr txBox="1"/>
          <p:nvPr/>
        </p:nvSpPr>
        <p:spPr>
          <a:xfrm>
            <a:off x="4754879" y="5303520"/>
            <a:ext cx="2743200" cy="365760"/>
          </a:xfrm>
          <a:prstGeom prst="rect">
            <a:avLst/>
          </a:prstGeom>
          <a:noFill/>
        </p:spPr>
        <p:txBody>
          <a:bodyPr wrap="square">
            <a:spAutoFit/>
          </a:bodyPr>
          <a:lstStyle/>
          <a:p>
            <a:pPr algn="l">
              <a:defRPr sz="1600" b="1" i="0">
                <a:solidFill>
                  <a:srgbClr val="F2EFE9"/>
                </a:solidFill>
                <a:latin typeface="Inter"/>
              </a:defRPr>
            </a:pPr>
            <a:r>
              <a:t>ab 5.000 €</a:t>
            </a:r>
          </a:p>
        </p:txBody>
      </p:sp>
      <p:sp>
        <p:nvSpPr>
          <p:cNvPr id="15" name="Rectangle 14"/>
          <p:cNvSpPr/>
          <p:nvPr/>
        </p:nvSpPr>
        <p:spPr>
          <a:xfrm>
            <a:off x="8229600" y="3474720"/>
            <a:ext cx="3291840" cy="256032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0" y="3657600"/>
            <a:ext cx="2743200" cy="274320"/>
          </a:xfrm>
          <a:prstGeom prst="rect">
            <a:avLst/>
          </a:prstGeom>
          <a:noFill/>
        </p:spPr>
        <p:txBody>
          <a:bodyPr wrap="square">
            <a:spAutoFit/>
          </a:bodyPr>
          <a:lstStyle/>
          <a:p>
            <a:pPr algn="l">
              <a:defRPr sz="1100" b="1" i="0">
                <a:solidFill>
                  <a:srgbClr val="C8A25A"/>
                </a:solidFill>
                <a:latin typeface="JetBrains Mono"/>
              </a:defRPr>
            </a:pPr>
            <a:r>
              <a:t>CREATIVE RETAINER</a:t>
            </a:r>
          </a:p>
        </p:txBody>
      </p:sp>
      <p:sp>
        <p:nvSpPr>
          <p:cNvPr id="17" name="TextBox 16"/>
          <p:cNvSpPr txBox="1"/>
          <p:nvPr/>
        </p:nvSpPr>
        <p:spPr>
          <a:xfrm>
            <a:off x="8503920" y="4114800"/>
            <a:ext cx="2743200" cy="914400"/>
          </a:xfrm>
          <a:prstGeom prst="rect">
            <a:avLst/>
          </a:prstGeom>
          <a:noFill/>
        </p:spPr>
        <p:txBody>
          <a:bodyPr wrap="square">
            <a:spAutoFit/>
          </a:bodyPr>
          <a:lstStyle/>
          <a:p>
            <a:pPr algn="l">
              <a:defRPr sz="1400" b="0" i="0">
                <a:solidFill>
                  <a:srgbClr val="B8B4AE"/>
                </a:solidFill>
                <a:latin typeface="Inter"/>
              </a:defRPr>
            </a:pPr>
            <a:r>
              <a:t>Fortlaufende Creative-Engine</a:t>
            </a:r>
            <a:br/>
            <a:r>
              <a:t>Tiers S / M / L</a:t>
            </a:r>
          </a:p>
        </p:txBody>
      </p:sp>
      <p:sp>
        <p:nvSpPr>
          <p:cNvPr id="18" name="TextBox 17"/>
          <p:cNvSpPr txBox="1"/>
          <p:nvPr/>
        </p:nvSpPr>
        <p:spPr>
          <a:xfrm>
            <a:off x="8503920" y="5303520"/>
            <a:ext cx="2743200" cy="365760"/>
          </a:xfrm>
          <a:prstGeom prst="rect">
            <a:avLst/>
          </a:prstGeom>
          <a:noFill/>
        </p:spPr>
        <p:txBody>
          <a:bodyPr wrap="square">
            <a:spAutoFit/>
          </a:bodyPr>
          <a:lstStyle/>
          <a:p>
            <a:pPr algn="l">
              <a:defRPr sz="1600" b="1" i="0">
                <a:solidFill>
                  <a:srgbClr val="F2EFE9"/>
                </a:solidFill>
                <a:latin typeface="Inter"/>
              </a:defRPr>
            </a:pPr>
            <a:r>
              <a:t>ab 4.500 € / Monat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C8A25A"/>
                </a:solidFill>
                <a:latin typeface="JetBrains Mono"/>
              </a:defRPr>
            </a:pPr>
            <a:r>
              <a:t>SPRECHER: YAHYA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05 · FRONTIER FIRM ARCHITEKTUR</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Das Frontier Firm Modell</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377440"/>
            <a:ext cx="10698480" cy="82296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468880"/>
            <a:ext cx="2286000" cy="274320"/>
          </a:xfrm>
          <a:prstGeom prst="rect">
            <a:avLst/>
          </a:prstGeom>
          <a:noFill/>
        </p:spPr>
        <p:txBody>
          <a:bodyPr wrap="square">
            <a:spAutoFit/>
          </a:bodyPr>
          <a:lstStyle/>
          <a:p>
            <a:pPr algn="l">
              <a:defRPr sz="1200" b="1" i="0">
                <a:solidFill>
                  <a:srgbClr val="C8A25A"/>
                </a:solidFill>
                <a:latin typeface="JetBrains Mono"/>
              </a:defRPr>
            </a:pPr>
            <a:r>
              <a:t>INTELLIGENCE</a:t>
            </a:r>
          </a:p>
        </p:txBody>
      </p:sp>
      <p:sp>
        <p:nvSpPr>
          <p:cNvPr id="8" name="TextBox 7"/>
          <p:cNvSpPr txBox="1"/>
          <p:nvPr/>
        </p:nvSpPr>
        <p:spPr>
          <a:xfrm>
            <a:off x="3657600" y="2468880"/>
            <a:ext cx="3657600" cy="274320"/>
          </a:xfrm>
          <a:prstGeom prst="rect">
            <a:avLst/>
          </a:prstGeom>
          <a:noFill/>
        </p:spPr>
        <p:txBody>
          <a:bodyPr wrap="square">
            <a:spAutoFit/>
          </a:bodyPr>
          <a:lstStyle/>
          <a:p>
            <a:pPr algn="l">
              <a:defRPr sz="1300" b="1" i="0">
                <a:solidFill>
                  <a:srgbClr val="F2EFE9"/>
                </a:solidFill>
                <a:latin typeface="Inter"/>
              </a:defRPr>
            </a:pPr>
            <a:r>
              <a:t>Perplexity Spaces</a:t>
            </a:r>
          </a:p>
        </p:txBody>
      </p:sp>
      <p:sp>
        <p:nvSpPr>
          <p:cNvPr id="9" name="TextBox 8"/>
          <p:cNvSpPr txBox="1"/>
          <p:nvPr/>
        </p:nvSpPr>
        <p:spPr>
          <a:xfrm>
            <a:off x="3657600" y="2788920"/>
            <a:ext cx="7315200" cy="274320"/>
          </a:xfrm>
          <a:prstGeom prst="rect">
            <a:avLst/>
          </a:prstGeom>
          <a:noFill/>
        </p:spPr>
        <p:txBody>
          <a:bodyPr wrap="square">
            <a:spAutoFit/>
          </a:bodyPr>
          <a:lstStyle/>
          <a:p>
            <a:pPr algn="l">
              <a:defRPr sz="1100" b="0" i="0">
                <a:solidFill>
                  <a:srgbClr val="B8B4AE"/>
                </a:solidFill>
                <a:latin typeface="Inter"/>
              </a:defRPr>
            </a:pPr>
            <a:r>
              <a:t>5 Spaces · 44+ Dokumente · Echtzeit-Recherche</a:t>
            </a:r>
          </a:p>
        </p:txBody>
      </p:sp>
      <p:sp>
        <p:nvSpPr>
          <p:cNvPr id="10" name="Rectangle 9"/>
          <p:cNvSpPr/>
          <p:nvPr/>
        </p:nvSpPr>
        <p:spPr>
          <a:xfrm>
            <a:off x="731520" y="3383280"/>
            <a:ext cx="10698480" cy="82296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74720"/>
            <a:ext cx="2286000" cy="274320"/>
          </a:xfrm>
          <a:prstGeom prst="rect">
            <a:avLst/>
          </a:prstGeom>
          <a:noFill/>
        </p:spPr>
        <p:txBody>
          <a:bodyPr wrap="square">
            <a:spAutoFit/>
          </a:bodyPr>
          <a:lstStyle/>
          <a:p>
            <a:pPr algn="l">
              <a:defRPr sz="1200" b="1" i="0">
                <a:solidFill>
                  <a:srgbClr val="C8A25A"/>
                </a:solidFill>
                <a:latin typeface="JetBrains Mono"/>
              </a:defRPr>
            </a:pPr>
            <a:r>
              <a:t>PRODUCTION</a:t>
            </a:r>
          </a:p>
        </p:txBody>
      </p:sp>
      <p:sp>
        <p:nvSpPr>
          <p:cNvPr id="12" name="TextBox 11"/>
          <p:cNvSpPr txBox="1"/>
          <p:nvPr/>
        </p:nvSpPr>
        <p:spPr>
          <a:xfrm>
            <a:off x="3657600" y="3474720"/>
            <a:ext cx="3657600" cy="274320"/>
          </a:xfrm>
          <a:prstGeom prst="rect">
            <a:avLst/>
          </a:prstGeom>
          <a:noFill/>
        </p:spPr>
        <p:txBody>
          <a:bodyPr wrap="square">
            <a:spAutoFit/>
          </a:bodyPr>
          <a:lstStyle/>
          <a:p>
            <a:pPr algn="l">
              <a:defRPr sz="1300" b="1" i="0">
                <a:solidFill>
                  <a:srgbClr val="F2EFE9"/>
                </a:solidFill>
                <a:latin typeface="Inter"/>
              </a:defRPr>
            </a:pPr>
            <a:r>
              <a:t>Adobe CC · Midjourney · Runway</a:t>
            </a:r>
          </a:p>
        </p:txBody>
      </p:sp>
      <p:sp>
        <p:nvSpPr>
          <p:cNvPr id="13" name="TextBox 12"/>
          <p:cNvSpPr txBox="1"/>
          <p:nvPr/>
        </p:nvSpPr>
        <p:spPr>
          <a:xfrm>
            <a:off x="3657600" y="3794760"/>
            <a:ext cx="7315200" cy="274320"/>
          </a:xfrm>
          <a:prstGeom prst="rect">
            <a:avLst/>
          </a:prstGeom>
          <a:noFill/>
        </p:spPr>
        <p:txBody>
          <a:bodyPr wrap="square">
            <a:spAutoFit/>
          </a:bodyPr>
          <a:lstStyle/>
          <a:p>
            <a:pPr algn="l">
              <a:defRPr sz="1100" b="0" i="0">
                <a:solidFill>
                  <a:srgbClr val="B8B4AE"/>
                </a:solidFill>
                <a:latin typeface="Inter"/>
              </a:defRPr>
            </a:pPr>
            <a:r>
              <a:t>Hybrid Production · Foto + KI-Backgrounds</a:t>
            </a:r>
          </a:p>
        </p:txBody>
      </p:sp>
      <p:sp>
        <p:nvSpPr>
          <p:cNvPr id="14" name="Rectangle 13"/>
          <p:cNvSpPr/>
          <p:nvPr/>
        </p:nvSpPr>
        <p:spPr>
          <a:xfrm>
            <a:off x="731520" y="4389120"/>
            <a:ext cx="10698480" cy="82296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80560"/>
            <a:ext cx="2286000" cy="274320"/>
          </a:xfrm>
          <a:prstGeom prst="rect">
            <a:avLst/>
          </a:prstGeom>
          <a:noFill/>
        </p:spPr>
        <p:txBody>
          <a:bodyPr wrap="square">
            <a:spAutoFit/>
          </a:bodyPr>
          <a:lstStyle/>
          <a:p>
            <a:pPr algn="l">
              <a:defRPr sz="1200" b="1" i="0">
                <a:solidFill>
                  <a:srgbClr val="C8A25A"/>
                </a:solidFill>
                <a:latin typeface="JetBrains Mono"/>
              </a:defRPr>
            </a:pPr>
            <a:r>
              <a:t>INFRASTRUCTURE</a:t>
            </a:r>
          </a:p>
        </p:txBody>
      </p:sp>
      <p:sp>
        <p:nvSpPr>
          <p:cNvPr id="16" name="TextBox 15"/>
          <p:cNvSpPr txBox="1"/>
          <p:nvPr/>
        </p:nvSpPr>
        <p:spPr>
          <a:xfrm>
            <a:off x="3657600" y="4480560"/>
            <a:ext cx="3657600" cy="274320"/>
          </a:xfrm>
          <a:prstGeom prst="rect">
            <a:avLst/>
          </a:prstGeom>
          <a:noFill/>
        </p:spPr>
        <p:txBody>
          <a:bodyPr wrap="square">
            <a:spAutoFit/>
          </a:bodyPr>
          <a:lstStyle/>
          <a:p>
            <a:pPr algn="l">
              <a:defRPr sz="1300" b="1" i="0">
                <a:solidFill>
                  <a:srgbClr val="F2EFE9"/>
                </a:solidFill>
                <a:latin typeface="Inter"/>
              </a:defRPr>
            </a:pPr>
            <a:r>
              <a:t>GCP Cloud Run · Docker · Claude Code</a:t>
            </a:r>
          </a:p>
        </p:txBody>
      </p:sp>
      <p:sp>
        <p:nvSpPr>
          <p:cNvPr id="17" name="TextBox 16"/>
          <p:cNvSpPr txBox="1"/>
          <p:nvPr/>
        </p:nvSpPr>
        <p:spPr>
          <a:xfrm>
            <a:off x="3657600" y="4800600"/>
            <a:ext cx="7315200" cy="274320"/>
          </a:xfrm>
          <a:prstGeom prst="rect">
            <a:avLst/>
          </a:prstGeom>
          <a:noFill/>
        </p:spPr>
        <p:txBody>
          <a:bodyPr wrap="square">
            <a:spAutoFit/>
          </a:bodyPr>
          <a:lstStyle/>
          <a:p>
            <a:pPr algn="l">
              <a:defRPr sz="1100" b="0" i="0">
                <a:solidFill>
                  <a:srgbClr val="B8B4AE"/>
                </a:solidFill>
                <a:latin typeface="Inter"/>
              </a:defRPr>
            </a:pPr>
            <a:r>
              <a:t>europe-west3 · CLI-Deployment · GitHub</a:t>
            </a:r>
          </a:p>
        </p:txBody>
      </p:sp>
      <p:sp>
        <p:nvSpPr>
          <p:cNvPr id="18" name="Rectangle 17"/>
          <p:cNvSpPr/>
          <p:nvPr/>
        </p:nvSpPr>
        <p:spPr>
          <a:xfrm>
            <a:off x="731520" y="5394960"/>
            <a:ext cx="10698480" cy="82296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486400"/>
            <a:ext cx="2286000" cy="274320"/>
          </a:xfrm>
          <a:prstGeom prst="rect">
            <a:avLst/>
          </a:prstGeom>
          <a:noFill/>
        </p:spPr>
        <p:txBody>
          <a:bodyPr wrap="square">
            <a:spAutoFit/>
          </a:bodyPr>
          <a:lstStyle/>
          <a:p>
            <a:pPr algn="l">
              <a:defRPr sz="1200" b="1" i="0">
                <a:solidFill>
                  <a:srgbClr val="C8A25A"/>
                </a:solidFill>
                <a:latin typeface="JetBrains Mono"/>
              </a:defRPr>
            </a:pPr>
            <a:r>
              <a:t>PERFORMANCE</a:t>
            </a:r>
          </a:p>
        </p:txBody>
      </p:sp>
      <p:sp>
        <p:nvSpPr>
          <p:cNvPr id="20" name="TextBox 19"/>
          <p:cNvSpPr txBox="1"/>
          <p:nvPr/>
        </p:nvSpPr>
        <p:spPr>
          <a:xfrm>
            <a:off x="3657600" y="5486400"/>
            <a:ext cx="3657600" cy="274320"/>
          </a:xfrm>
          <a:prstGeom prst="rect">
            <a:avLst/>
          </a:prstGeom>
          <a:noFill/>
        </p:spPr>
        <p:txBody>
          <a:bodyPr wrap="square">
            <a:spAutoFit/>
          </a:bodyPr>
          <a:lstStyle/>
          <a:p>
            <a:pPr algn="l">
              <a:defRPr sz="1300" b="1" i="0">
                <a:solidFill>
                  <a:srgbClr val="F2EFE9"/>
                </a:solidFill>
                <a:latin typeface="Inter"/>
              </a:defRPr>
            </a:pPr>
            <a:r>
              <a:t>Meta · TikTok · GA4</a:t>
            </a:r>
          </a:p>
        </p:txBody>
      </p:sp>
      <p:sp>
        <p:nvSpPr>
          <p:cNvPr id="21" name="TextBox 20"/>
          <p:cNvSpPr txBox="1"/>
          <p:nvPr/>
        </p:nvSpPr>
        <p:spPr>
          <a:xfrm>
            <a:off x="3657600" y="5806440"/>
            <a:ext cx="7315200" cy="274320"/>
          </a:xfrm>
          <a:prstGeom prst="rect">
            <a:avLst/>
          </a:prstGeom>
          <a:noFill/>
        </p:spPr>
        <p:txBody>
          <a:bodyPr wrap="square">
            <a:spAutoFit/>
          </a:bodyPr>
          <a:lstStyle/>
          <a:p>
            <a:pPr algn="l">
              <a:defRPr sz="1100" b="0" i="0">
                <a:solidFill>
                  <a:srgbClr val="B8B4AE"/>
                </a:solidFill>
                <a:latin typeface="Inter"/>
              </a:defRPr>
            </a:pPr>
            <a:r>
              <a:t>Testing Matrix · Learning Log · Benchmarks</a:t>
            </a:r>
          </a:p>
        </p:txBody>
      </p:sp>
      <p:sp>
        <p:nvSpPr>
          <p:cNvPr id="22" name="TextBox 21"/>
          <p:cNvSpPr txBox="1"/>
          <p:nvPr/>
        </p:nvSpPr>
        <p:spPr>
          <a:xfrm>
            <a:off x="731520" y="5760720"/>
            <a:ext cx="10058400" cy="457200"/>
          </a:xfrm>
          <a:prstGeom prst="rect">
            <a:avLst/>
          </a:prstGeom>
          <a:noFill/>
        </p:spPr>
        <p:txBody>
          <a:bodyPr wrap="square">
            <a:spAutoFit/>
          </a:bodyPr>
          <a:lstStyle/>
          <a:p>
            <a:pPr algn="l">
              <a:defRPr sz="1300" b="0" i="0">
                <a:solidFill>
                  <a:srgbClr val="C8A25A"/>
                </a:solidFill>
                <a:latin typeface="JetBrains Mono"/>
              </a:defRPr>
            </a:pPr>
            <a:r>
              <a:t>PERFECT TWIN: 1 Mensch + 1 KI-Pendant = Verdopplung ohne Headcount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E07A5F"/>
                </a:solidFill>
                <a:latin typeface="JetBrains Mono"/>
              </a:defRPr>
            </a:pPr>
            <a:r>
              <a:t>SPRECHER: OLHA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06 · BRAND IDENTITY — DARK LUXURY</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Design als System, nicht als Dekoration.</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3291840" cy="1097280"/>
          </a:xfrm>
          <a:prstGeom prst="rect">
            <a:avLst/>
          </a:prstGeom>
          <a:solidFill>
            <a:srgbClr val="08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743200"/>
            <a:ext cx="2743200" cy="274320"/>
          </a:xfrm>
          <a:prstGeom prst="rect">
            <a:avLst/>
          </a:prstGeom>
          <a:noFill/>
        </p:spPr>
        <p:txBody>
          <a:bodyPr wrap="square">
            <a:spAutoFit/>
          </a:bodyPr>
          <a:lstStyle/>
          <a:p>
            <a:pPr algn="l">
              <a:defRPr sz="1300" b="1" i="0">
                <a:solidFill>
                  <a:srgbClr val="F2EFE9"/>
                </a:solidFill>
                <a:latin typeface="Inter"/>
              </a:defRPr>
            </a:pPr>
            <a:r>
              <a:t>Deep Onyx</a:t>
            </a:r>
          </a:p>
        </p:txBody>
      </p:sp>
      <p:sp>
        <p:nvSpPr>
          <p:cNvPr id="8" name="TextBox 7"/>
          <p:cNvSpPr txBox="1"/>
          <p:nvPr/>
        </p:nvSpPr>
        <p:spPr>
          <a:xfrm>
            <a:off x="1005840" y="3200400"/>
            <a:ext cx="2743200" cy="274320"/>
          </a:xfrm>
          <a:prstGeom prst="rect">
            <a:avLst/>
          </a:prstGeom>
          <a:noFill/>
        </p:spPr>
        <p:txBody>
          <a:bodyPr wrap="square">
            <a:spAutoFit/>
          </a:bodyPr>
          <a:lstStyle/>
          <a:p>
            <a:pPr algn="l">
              <a:defRPr sz="1100" b="0" i="0">
                <a:solidFill>
                  <a:srgbClr val="F2EFE9"/>
                </a:solidFill>
                <a:latin typeface="JetBrains Mono"/>
              </a:defRPr>
            </a:pPr>
            <a:r>
              <a:t>#080808</a:t>
            </a:r>
          </a:p>
        </p:txBody>
      </p:sp>
      <p:sp>
        <p:nvSpPr>
          <p:cNvPr id="9" name="Rectangle 8"/>
          <p:cNvSpPr/>
          <p:nvPr/>
        </p:nvSpPr>
        <p:spPr>
          <a:xfrm>
            <a:off x="4480559" y="2560320"/>
            <a:ext cx="3291840" cy="109728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79" y="2743200"/>
            <a:ext cx="2743200" cy="274320"/>
          </a:xfrm>
          <a:prstGeom prst="rect">
            <a:avLst/>
          </a:prstGeom>
          <a:noFill/>
        </p:spPr>
        <p:txBody>
          <a:bodyPr wrap="square">
            <a:spAutoFit/>
          </a:bodyPr>
          <a:lstStyle/>
          <a:p>
            <a:pPr algn="l">
              <a:defRPr sz="1300" b="1" i="0">
                <a:solidFill>
                  <a:srgbClr val="F2EFE9"/>
                </a:solidFill>
                <a:latin typeface="Inter"/>
              </a:defRPr>
            </a:pPr>
            <a:r>
              <a:t>Mirrou Gold</a:t>
            </a:r>
          </a:p>
        </p:txBody>
      </p:sp>
      <p:sp>
        <p:nvSpPr>
          <p:cNvPr id="11" name="TextBox 10"/>
          <p:cNvSpPr txBox="1"/>
          <p:nvPr/>
        </p:nvSpPr>
        <p:spPr>
          <a:xfrm>
            <a:off x="4754879" y="3200400"/>
            <a:ext cx="2743200" cy="274320"/>
          </a:xfrm>
          <a:prstGeom prst="rect">
            <a:avLst/>
          </a:prstGeom>
          <a:noFill/>
        </p:spPr>
        <p:txBody>
          <a:bodyPr wrap="square">
            <a:spAutoFit/>
          </a:bodyPr>
          <a:lstStyle/>
          <a:p>
            <a:pPr algn="l">
              <a:defRPr sz="1100" b="0" i="0">
                <a:solidFill>
                  <a:srgbClr val="F2EFE9"/>
                </a:solidFill>
                <a:latin typeface="JetBrains Mono"/>
              </a:defRPr>
            </a:pPr>
            <a:r>
              <a:t>#C8A25A</a:t>
            </a:r>
          </a:p>
        </p:txBody>
      </p:sp>
      <p:sp>
        <p:nvSpPr>
          <p:cNvPr id="12" name="Rectangle 11"/>
          <p:cNvSpPr/>
          <p:nvPr/>
        </p:nvSpPr>
        <p:spPr>
          <a:xfrm>
            <a:off x="8229600" y="2560320"/>
            <a:ext cx="3291840" cy="1097280"/>
          </a:xfrm>
          <a:prstGeom prst="rect">
            <a:avLst/>
          </a:prstGeom>
          <a:solidFill>
            <a:srgbClr val="F2E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2743200"/>
            <a:ext cx="2743200" cy="274320"/>
          </a:xfrm>
          <a:prstGeom prst="rect">
            <a:avLst/>
          </a:prstGeom>
          <a:noFill/>
        </p:spPr>
        <p:txBody>
          <a:bodyPr wrap="square">
            <a:spAutoFit/>
          </a:bodyPr>
          <a:lstStyle/>
          <a:p>
            <a:pPr algn="l">
              <a:defRPr sz="1300" b="1" i="0">
                <a:solidFill>
                  <a:srgbClr val="080808"/>
                </a:solidFill>
                <a:latin typeface="Inter"/>
              </a:defRPr>
            </a:pPr>
            <a:r>
              <a:t>Ivory</a:t>
            </a:r>
          </a:p>
        </p:txBody>
      </p:sp>
      <p:sp>
        <p:nvSpPr>
          <p:cNvPr id="14" name="TextBox 13"/>
          <p:cNvSpPr txBox="1"/>
          <p:nvPr/>
        </p:nvSpPr>
        <p:spPr>
          <a:xfrm>
            <a:off x="8503920" y="3200400"/>
            <a:ext cx="2743200" cy="274320"/>
          </a:xfrm>
          <a:prstGeom prst="rect">
            <a:avLst/>
          </a:prstGeom>
          <a:noFill/>
        </p:spPr>
        <p:txBody>
          <a:bodyPr wrap="square">
            <a:spAutoFit/>
          </a:bodyPr>
          <a:lstStyle/>
          <a:p>
            <a:pPr algn="l">
              <a:defRPr sz="1100" b="0" i="0">
                <a:solidFill>
                  <a:srgbClr val="080808"/>
                </a:solidFill>
                <a:latin typeface="JetBrains Mono"/>
              </a:defRPr>
            </a:pPr>
            <a:r>
              <a:t>#F2EFE9</a:t>
            </a:r>
          </a:p>
        </p:txBody>
      </p:sp>
      <p:sp>
        <p:nvSpPr>
          <p:cNvPr id="15" name="TextBox 14"/>
          <p:cNvSpPr txBox="1"/>
          <p:nvPr/>
        </p:nvSpPr>
        <p:spPr>
          <a:xfrm>
            <a:off x="731520" y="4114800"/>
            <a:ext cx="3200400" cy="365760"/>
          </a:xfrm>
          <a:prstGeom prst="rect">
            <a:avLst/>
          </a:prstGeom>
          <a:noFill/>
        </p:spPr>
        <p:txBody>
          <a:bodyPr wrap="square">
            <a:spAutoFit/>
          </a:bodyPr>
          <a:lstStyle/>
          <a:p>
            <a:pPr algn="l">
              <a:defRPr sz="1100" b="1" i="0">
                <a:solidFill>
                  <a:srgbClr val="C8A25A"/>
                </a:solidFill>
                <a:latin typeface="JetBrains Mono"/>
              </a:defRPr>
            </a:pPr>
            <a:r>
              <a:t>TYPOGRAFIE</a:t>
            </a:r>
          </a:p>
        </p:txBody>
      </p:sp>
      <p:sp>
        <p:nvSpPr>
          <p:cNvPr id="16" name="TextBox 15"/>
          <p:cNvSpPr txBox="1"/>
          <p:nvPr/>
        </p:nvSpPr>
        <p:spPr>
          <a:xfrm>
            <a:off x="731520" y="4572000"/>
            <a:ext cx="10058400" cy="1828800"/>
          </a:xfrm>
          <a:prstGeom prst="rect">
            <a:avLst/>
          </a:prstGeom>
          <a:noFill/>
        </p:spPr>
        <p:txBody>
          <a:bodyPr wrap="square">
            <a:spAutoFit/>
          </a:bodyPr>
          <a:lstStyle/>
          <a:p>
            <a:pPr>
              <a:spcAft>
                <a:spcPts val="400"/>
              </a:spcAft>
              <a:defRPr sz="1800" b="1">
                <a:solidFill>
                  <a:srgbClr val="F2EFE9"/>
                </a:solidFill>
                <a:latin typeface="Inter"/>
              </a:defRPr>
            </a:pPr>
            <a:r>
              <a:t>Cormorant Garamond — Display &amp; Headlines</a:t>
            </a:r>
          </a:p>
          <a:p>
            <a:pPr>
              <a:spcAft>
                <a:spcPts val="400"/>
              </a:spcAft>
              <a:defRPr sz="1400" b="0">
                <a:solidFill>
                  <a:srgbClr val="B8B4AE"/>
                </a:solidFill>
                <a:latin typeface="Inter"/>
              </a:defRPr>
            </a:pPr>
            <a:r>
              <a:t>Inter — Body &amp; Interface</a:t>
            </a:r>
          </a:p>
          <a:p>
            <a:pPr>
              <a:spcAft>
                <a:spcPts val="400"/>
              </a:spcAft>
              <a:defRPr sz="1200" b="0">
                <a:solidFill>
                  <a:srgbClr val="6E6B66"/>
                </a:solidFill>
                <a:latin typeface="Inter"/>
              </a:defRPr>
            </a:pPr>
            <a:r>
              <a:t>JetBrains Mono — Technical &amp; Labels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E07A5F"/>
                </a:solidFill>
                <a:latin typeface="JetBrains Mono"/>
              </a:defRPr>
            </a:pPr>
            <a:r>
              <a:t>SPRECHER: OLHA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07 · VIER VISUAL-SYSTEME</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Vier Welten. Eine Methode.</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2560320" cy="32004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560320"/>
            <a:ext cx="2560320" cy="381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834640"/>
            <a:ext cx="2194560" cy="365760"/>
          </a:xfrm>
          <a:prstGeom prst="rect">
            <a:avLst/>
          </a:prstGeom>
          <a:noFill/>
        </p:spPr>
        <p:txBody>
          <a:bodyPr wrap="square">
            <a:spAutoFit/>
          </a:bodyPr>
          <a:lstStyle/>
          <a:p>
            <a:pPr algn="l">
              <a:defRPr sz="1200" b="1" i="0">
                <a:solidFill>
                  <a:srgbClr val="C8A25A"/>
                </a:solidFill>
                <a:latin typeface="JetBrains Mono"/>
              </a:defRPr>
            </a:pPr>
            <a:r>
              <a:t>LUMINOUS AURA</a:t>
            </a:r>
          </a:p>
        </p:txBody>
      </p:sp>
      <p:sp>
        <p:nvSpPr>
          <p:cNvPr id="9" name="TextBox 8"/>
          <p:cNvSpPr txBox="1"/>
          <p:nvPr/>
        </p:nvSpPr>
        <p:spPr>
          <a:xfrm>
            <a:off x="914400" y="3383280"/>
            <a:ext cx="2194560" cy="914400"/>
          </a:xfrm>
          <a:prstGeom prst="rect">
            <a:avLst/>
          </a:prstGeom>
          <a:noFill/>
        </p:spPr>
        <p:txBody>
          <a:bodyPr wrap="square">
            <a:spAutoFit/>
          </a:bodyPr>
          <a:lstStyle/>
          <a:p>
            <a:pPr algn="l">
              <a:defRPr sz="1200" b="0" i="0">
                <a:solidFill>
                  <a:srgbClr val="B8B4AE"/>
                </a:solidFill>
                <a:latin typeface="Inter"/>
              </a:defRPr>
            </a:pPr>
            <a:r>
              <a:t>Premium-Serum · Marmor · Goldstaub</a:t>
            </a:r>
          </a:p>
        </p:txBody>
      </p:sp>
      <p:sp>
        <p:nvSpPr>
          <p:cNvPr id="10" name="TextBox 9"/>
          <p:cNvSpPr txBox="1"/>
          <p:nvPr/>
        </p:nvSpPr>
        <p:spPr>
          <a:xfrm>
            <a:off x="914400" y="4754880"/>
            <a:ext cx="2194560" cy="365760"/>
          </a:xfrm>
          <a:prstGeom prst="rect">
            <a:avLst/>
          </a:prstGeom>
          <a:noFill/>
        </p:spPr>
        <p:txBody>
          <a:bodyPr wrap="square">
            <a:spAutoFit/>
          </a:bodyPr>
          <a:lstStyle/>
          <a:p>
            <a:pPr algn="l">
              <a:defRPr sz="1100" b="0" i="0">
                <a:solidFill>
                  <a:srgbClr val="6E6B66"/>
                </a:solidFill>
                <a:latin typeface="JetBrains Mono"/>
              </a:defRPr>
            </a:pPr>
            <a:r>
              <a:t>Conversion-optimiert</a:t>
            </a:r>
          </a:p>
        </p:txBody>
      </p:sp>
      <p:sp>
        <p:nvSpPr>
          <p:cNvPr id="11" name="Rectangle 10"/>
          <p:cNvSpPr/>
          <p:nvPr/>
        </p:nvSpPr>
        <p:spPr>
          <a:xfrm>
            <a:off x="3566160" y="2560320"/>
            <a:ext cx="2560320" cy="32004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66160" y="2560320"/>
            <a:ext cx="2560320" cy="38100"/>
          </a:xfrm>
          <a:prstGeom prst="rect">
            <a:avLst/>
          </a:prstGeom>
          <a:solidFill>
            <a:srgbClr val="4AE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0" y="2834640"/>
            <a:ext cx="2194560" cy="365760"/>
          </a:xfrm>
          <a:prstGeom prst="rect">
            <a:avLst/>
          </a:prstGeom>
          <a:noFill/>
        </p:spPr>
        <p:txBody>
          <a:bodyPr wrap="square">
            <a:spAutoFit/>
          </a:bodyPr>
          <a:lstStyle/>
          <a:p>
            <a:pPr algn="l">
              <a:defRPr sz="1200" b="1" i="0">
                <a:solidFill>
                  <a:srgbClr val="4AE27A"/>
                </a:solidFill>
                <a:latin typeface="JetBrains Mono"/>
              </a:defRPr>
            </a:pPr>
            <a:r>
              <a:t>VITALITY PULSE</a:t>
            </a:r>
          </a:p>
        </p:txBody>
      </p:sp>
      <p:sp>
        <p:nvSpPr>
          <p:cNvPr id="14" name="TextBox 13"/>
          <p:cNvSpPr txBox="1"/>
          <p:nvPr/>
        </p:nvSpPr>
        <p:spPr>
          <a:xfrm>
            <a:off x="3749040" y="3383280"/>
            <a:ext cx="2194560" cy="914400"/>
          </a:xfrm>
          <a:prstGeom prst="rect">
            <a:avLst/>
          </a:prstGeom>
          <a:noFill/>
        </p:spPr>
        <p:txBody>
          <a:bodyPr wrap="square">
            <a:spAutoFit/>
          </a:bodyPr>
          <a:lstStyle/>
          <a:p>
            <a:pPr algn="l">
              <a:defRPr sz="1200" b="0" i="0">
                <a:solidFill>
                  <a:srgbClr val="B8B4AE"/>
                </a:solidFill>
                <a:latin typeface="Inter"/>
              </a:defRPr>
            </a:pPr>
            <a:r>
              <a:t>Energie · Wasserspritzer · harte Schatten</a:t>
            </a:r>
          </a:p>
        </p:txBody>
      </p:sp>
      <p:sp>
        <p:nvSpPr>
          <p:cNvPr id="15" name="TextBox 14"/>
          <p:cNvSpPr txBox="1"/>
          <p:nvPr/>
        </p:nvSpPr>
        <p:spPr>
          <a:xfrm>
            <a:off x="3749040" y="4754880"/>
            <a:ext cx="2194560" cy="365760"/>
          </a:xfrm>
          <a:prstGeom prst="rect">
            <a:avLst/>
          </a:prstGeom>
          <a:noFill/>
        </p:spPr>
        <p:txBody>
          <a:bodyPr wrap="square">
            <a:spAutoFit/>
          </a:bodyPr>
          <a:lstStyle/>
          <a:p>
            <a:pPr algn="l">
              <a:defRPr sz="1100" b="0" i="0">
                <a:solidFill>
                  <a:srgbClr val="6E6B66"/>
                </a:solidFill>
                <a:latin typeface="JetBrains Mono"/>
              </a:defRPr>
            </a:pPr>
            <a:r>
              <a:t>TikTok Thumb-Stop</a:t>
            </a:r>
          </a:p>
        </p:txBody>
      </p:sp>
      <p:sp>
        <p:nvSpPr>
          <p:cNvPr id="16" name="Rectangle 15"/>
          <p:cNvSpPr/>
          <p:nvPr/>
        </p:nvSpPr>
        <p:spPr>
          <a:xfrm>
            <a:off x="6400800" y="2560320"/>
            <a:ext cx="2560320" cy="32004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0" y="2560320"/>
            <a:ext cx="2560320" cy="38100"/>
          </a:xfrm>
          <a:prstGeom prst="rect">
            <a:avLst/>
          </a:prstGeom>
          <a:solidFill>
            <a:srgbClr val="7AB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2834640"/>
            <a:ext cx="2194560" cy="365760"/>
          </a:xfrm>
          <a:prstGeom prst="rect">
            <a:avLst/>
          </a:prstGeom>
          <a:noFill/>
        </p:spPr>
        <p:txBody>
          <a:bodyPr wrap="square">
            <a:spAutoFit/>
          </a:bodyPr>
          <a:lstStyle/>
          <a:p>
            <a:pPr algn="l">
              <a:defRPr sz="1200" b="1" i="0">
                <a:solidFill>
                  <a:srgbClr val="7AB8E2"/>
                </a:solidFill>
                <a:latin typeface="JetBrains Mono"/>
              </a:defRPr>
            </a:pPr>
            <a:r>
              <a:t>ESSENCE DRIFT</a:t>
            </a:r>
          </a:p>
        </p:txBody>
      </p:sp>
      <p:sp>
        <p:nvSpPr>
          <p:cNvPr id="19" name="TextBox 18"/>
          <p:cNvSpPr txBox="1"/>
          <p:nvPr/>
        </p:nvSpPr>
        <p:spPr>
          <a:xfrm>
            <a:off x="6583680" y="3383280"/>
            <a:ext cx="2194560" cy="914400"/>
          </a:xfrm>
          <a:prstGeom prst="rect">
            <a:avLst/>
          </a:prstGeom>
          <a:noFill/>
        </p:spPr>
        <p:txBody>
          <a:bodyPr wrap="square">
            <a:spAutoFit/>
          </a:bodyPr>
          <a:lstStyle/>
          <a:p>
            <a:pPr algn="l">
              <a:defRPr sz="1200" b="0" i="0">
                <a:solidFill>
                  <a:srgbClr val="B8B4AE"/>
                </a:solidFill>
                <a:latin typeface="Inter"/>
              </a:defRPr>
            </a:pPr>
            <a:r>
              <a:t>Nebel · Spiegelungen · Fragrance</a:t>
            </a:r>
          </a:p>
        </p:txBody>
      </p:sp>
      <p:sp>
        <p:nvSpPr>
          <p:cNvPr id="20" name="TextBox 19"/>
          <p:cNvSpPr txBox="1"/>
          <p:nvPr/>
        </p:nvSpPr>
        <p:spPr>
          <a:xfrm>
            <a:off x="6583680" y="4754880"/>
            <a:ext cx="2194560" cy="365760"/>
          </a:xfrm>
          <a:prstGeom prst="rect">
            <a:avLst/>
          </a:prstGeom>
          <a:noFill/>
        </p:spPr>
        <p:txBody>
          <a:bodyPr wrap="square">
            <a:spAutoFit/>
          </a:bodyPr>
          <a:lstStyle/>
          <a:p>
            <a:pPr algn="l">
              <a:defRPr sz="1100" b="0" i="0">
                <a:solidFill>
                  <a:srgbClr val="6E6B66"/>
                </a:solidFill>
                <a:latin typeface="JetBrains Mono"/>
              </a:defRPr>
            </a:pPr>
            <a:r>
              <a:t>Emotional Storytelling</a:t>
            </a:r>
          </a:p>
        </p:txBody>
      </p:sp>
      <p:sp>
        <p:nvSpPr>
          <p:cNvPr id="21" name="Rectangle 20"/>
          <p:cNvSpPr/>
          <p:nvPr/>
        </p:nvSpPr>
        <p:spPr>
          <a:xfrm>
            <a:off x="9235440" y="2560320"/>
            <a:ext cx="2560320" cy="32004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35440" y="2560320"/>
            <a:ext cx="2560320" cy="38100"/>
          </a:xfrm>
          <a:prstGeom prst="rect">
            <a:avLst/>
          </a:prstGeom>
          <a:solidFill>
            <a:srgbClr val="E27A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2834640"/>
            <a:ext cx="2194560" cy="365760"/>
          </a:xfrm>
          <a:prstGeom prst="rect">
            <a:avLst/>
          </a:prstGeom>
          <a:noFill/>
        </p:spPr>
        <p:txBody>
          <a:bodyPr wrap="square">
            <a:spAutoFit/>
          </a:bodyPr>
          <a:lstStyle/>
          <a:p>
            <a:pPr algn="l">
              <a:defRPr sz="1200" b="1" i="0">
                <a:solidFill>
                  <a:srgbClr val="E27AD4"/>
                </a:solidFill>
                <a:latin typeface="JetBrains Mono"/>
              </a:defRPr>
            </a:pPr>
            <a:r>
              <a:t>NEURAL GLOW</a:t>
            </a:r>
          </a:p>
        </p:txBody>
      </p:sp>
      <p:sp>
        <p:nvSpPr>
          <p:cNvPr id="24" name="TextBox 23"/>
          <p:cNvSpPr txBox="1"/>
          <p:nvPr/>
        </p:nvSpPr>
        <p:spPr>
          <a:xfrm>
            <a:off x="9418320" y="3383280"/>
            <a:ext cx="2194560" cy="914400"/>
          </a:xfrm>
          <a:prstGeom prst="rect">
            <a:avLst/>
          </a:prstGeom>
          <a:noFill/>
        </p:spPr>
        <p:txBody>
          <a:bodyPr wrap="square">
            <a:spAutoFit/>
          </a:bodyPr>
          <a:lstStyle/>
          <a:p>
            <a:pPr algn="l">
              <a:defRPr sz="1200" b="0" i="0">
                <a:solidFill>
                  <a:srgbClr val="B8B4AE"/>
                </a:solidFill>
                <a:latin typeface="Inter"/>
              </a:defRPr>
            </a:pPr>
            <a:r>
              <a:t>Biotech · Schaltkreise · 100 % KI</a:t>
            </a:r>
          </a:p>
        </p:txBody>
      </p:sp>
      <p:sp>
        <p:nvSpPr>
          <p:cNvPr id="25" name="TextBox 24"/>
          <p:cNvSpPr txBox="1"/>
          <p:nvPr/>
        </p:nvSpPr>
        <p:spPr>
          <a:xfrm>
            <a:off x="9418320" y="4754880"/>
            <a:ext cx="2194560" cy="365760"/>
          </a:xfrm>
          <a:prstGeom prst="rect">
            <a:avLst/>
          </a:prstGeom>
          <a:noFill/>
        </p:spPr>
        <p:txBody>
          <a:bodyPr wrap="square">
            <a:spAutoFit/>
          </a:bodyPr>
          <a:lstStyle/>
          <a:p>
            <a:pPr algn="l">
              <a:defRPr sz="1100" b="0" i="0">
                <a:solidFill>
                  <a:srgbClr val="6E6B66"/>
                </a:solidFill>
                <a:latin typeface="JetBrains Mono"/>
              </a:defRPr>
            </a:pPr>
            <a:r>
              <a:t>Synthetische Welten</a:t>
            </a:r>
          </a:p>
        </p:txBody>
      </p:sp>
      <p:sp>
        <p:nvSpPr>
          <p:cNvPr id="26" name="TextBox 25"/>
          <p:cNvSpPr txBox="1"/>
          <p:nvPr/>
        </p:nvSpPr>
        <p:spPr>
          <a:xfrm>
            <a:off x="731520" y="5943600"/>
            <a:ext cx="10058400" cy="365760"/>
          </a:xfrm>
          <a:prstGeom prst="rect">
            <a:avLst/>
          </a:prstGeom>
          <a:noFill/>
        </p:spPr>
        <p:txBody>
          <a:bodyPr wrap="square">
            <a:spAutoFit/>
          </a:bodyPr>
          <a:lstStyle/>
          <a:p>
            <a:pPr algn="l">
              <a:defRPr sz="1000" b="0" i="1">
                <a:solidFill>
                  <a:srgbClr val="6E6B66"/>
                </a:solidFill>
                <a:latin typeface="JetBrains Mono"/>
              </a:defRPr>
            </a:pPr>
            <a:r>
              <a:t>[Hier: Case Study Visuals von Olha einfügen — Luminous Aura, Vitality Pulse, Essence Drift, Neural Glow]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E07A5F"/>
                </a:solidFill>
                <a:latin typeface="JetBrains Mono"/>
              </a:defRPr>
            </a:pPr>
            <a:r>
              <a:t>SPRECHER: OLHA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08 · HYBRID PRODUCTION WORKFLOW</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Echtes Produkt. Digitale Welt. Volle Transparenz.</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560320"/>
            <a:ext cx="5029200" cy="365760"/>
          </a:xfrm>
          <a:prstGeom prst="rect">
            <a:avLst/>
          </a:prstGeom>
          <a:noFill/>
        </p:spPr>
        <p:txBody>
          <a:bodyPr wrap="square">
            <a:spAutoFit/>
          </a:bodyPr>
          <a:lstStyle/>
          <a:p>
            <a:pPr algn="l">
              <a:defRPr sz="1200" b="1" i="0">
                <a:solidFill>
                  <a:srgbClr val="6E6B66"/>
                </a:solidFill>
                <a:latin typeface="JetBrains Mono"/>
              </a:defRPr>
            </a:pPr>
            <a:r>
              <a:t>KLASSISCH</a:t>
            </a:r>
          </a:p>
        </p:txBody>
      </p:sp>
      <p:sp>
        <p:nvSpPr>
          <p:cNvPr id="7" name="TextBox 6"/>
          <p:cNvSpPr txBox="1"/>
          <p:nvPr/>
        </p:nvSpPr>
        <p:spPr>
          <a:xfrm>
            <a:off x="914400" y="3108960"/>
            <a:ext cx="4572000" cy="365760"/>
          </a:xfrm>
          <a:prstGeom prst="rect">
            <a:avLst/>
          </a:prstGeom>
          <a:noFill/>
        </p:spPr>
        <p:txBody>
          <a:bodyPr wrap="square">
            <a:spAutoFit/>
          </a:bodyPr>
          <a:lstStyle/>
          <a:p>
            <a:pPr algn="l">
              <a:defRPr sz="1400" b="0" i="0">
                <a:solidFill>
                  <a:srgbClr val="B8B4AE"/>
                </a:solidFill>
                <a:latin typeface="Inter"/>
              </a:defRPr>
            </a:pPr>
            <a:r>
              <a:t>✗  6 Tage Studio-Set-Bau</a:t>
            </a:r>
          </a:p>
        </p:txBody>
      </p:sp>
      <p:sp>
        <p:nvSpPr>
          <p:cNvPr id="8" name="TextBox 7"/>
          <p:cNvSpPr txBox="1"/>
          <p:nvPr/>
        </p:nvSpPr>
        <p:spPr>
          <a:xfrm>
            <a:off x="914400" y="3611880"/>
            <a:ext cx="4572000" cy="365760"/>
          </a:xfrm>
          <a:prstGeom prst="rect">
            <a:avLst/>
          </a:prstGeom>
          <a:noFill/>
        </p:spPr>
        <p:txBody>
          <a:bodyPr wrap="square">
            <a:spAutoFit/>
          </a:bodyPr>
          <a:lstStyle/>
          <a:p>
            <a:pPr algn="l">
              <a:defRPr sz="1400" b="0" i="0">
                <a:solidFill>
                  <a:srgbClr val="B8B4AE"/>
                </a:solidFill>
                <a:latin typeface="Inter"/>
              </a:defRPr>
            </a:pPr>
            <a:r>
              <a:t>✗  15.000–40.000 € pro Shooting</a:t>
            </a:r>
          </a:p>
        </p:txBody>
      </p:sp>
      <p:sp>
        <p:nvSpPr>
          <p:cNvPr id="9" name="TextBox 8"/>
          <p:cNvSpPr txBox="1"/>
          <p:nvPr/>
        </p:nvSpPr>
        <p:spPr>
          <a:xfrm>
            <a:off x="914400" y="4114800"/>
            <a:ext cx="4572000" cy="365760"/>
          </a:xfrm>
          <a:prstGeom prst="rect">
            <a:avLst/>
          </a:prstGeom>
          <a:noFill/>
        </p:spPr>
        <p:txBody>
          <a:bodyPr wrap="square">
            <a:spAutoFit/>
          </a:bodyPr>
          <a:lstStyle/>
          <a:p>
            <a:pPr algn="l">
              <a:defRPr sz="1400" b="0" i="0">
                <a:solidFill>
                  <a:srgbClr val="B8B4AE"/>
                </a:solidFill>
                <a:latin typeface="Inter"/>
              </a:defRPr>
            </a:pPr>
            <a:r>
              <a:t>✗  Keine Skalierung</a:t>
            </a:r>
          </a:p>
        </p:txBody>
      </p:sp>
      <p:sp>
        <p:nvSpPr>
          <p:cNvPr id="10" name="TextBox 9"/>
          <p:cNvSpPr txBox="1"/>
          <p:nvPr/>
        </p:nvSpPr>
        <p:spPr>
          <a:xfrm>
            <a:off x="914400" y="4617720"/>
            <a:ext cx="4572000" cy="365760"/>
          </a:xfrm>
          <a:prstGeom prst="rect">
            <a:avLst/>
          </a:prstGeom>
          <a:noFill/>
        </p:spPr>
        <p:txBody>
          <a:bodyPr wrap="square">
            <a:spAutoFit/>
          </a:bodyPr>
          <a:lstStyle/>
          <a:p>
            <a:pPr algn="l">
              <a:defRPr sz="1400" b="0" i="0">
                <a:solidFill>
                  <a:srgbClr val="B8B4AE"/>
                </a:solidFill>
                <a:latin typeface="Inter"/>
              </a:defRPr>
            </a:pPr>
            <a:r>
              <a:t>✗  Kein KI-Labeling nötig</a:t>
            </a:r>
          </a:p>
        </p:txBody>
      </p:sp>
      <p:sp>
        <p:nvSpPr>
          <p:cNvPr id="11" name="TextBox 10"/>
          <p:cNvSpPr txBox="1"/>
          <p:nvPr/>
        </p:nvSpPr>
        <p:spPr>
          <a:xfrm>
            <a:off x="6400800" y="2560320"/>
            <a:ext cx="5029200" cy="365760"/>
          </a:xfrm>
          <a:prstGeom prst="rect">
            <a:avLst/>
          </a:prstGeom>
          <a:noFill/>
        </p:spPr>
        <p:txBody>
          <a:bodyPr wrap="square">
            <a:spAutoFit/>
          </a:bodyPr>
          <a:lstStyle/>
          <a:p>
            <a:pPr algn="l">
              <a:defRPr sz="1200" b="1" i="0">
                <a:solidFill>
                  <a:srgbClr val="C8A25A"/>
                </a:solidFill>
                <a:latin typeface="JetBrains Mono"/>
              </a:defRPr>
            </a:pPr>
            <a:r>
              <a:t>HYBRID (MIRROU)</a:t>
            </a:r>
          </a:p>
        </p:txBody>
      </p:sp>
      <p:sp>
        <p:nvSpPr>
          <p:cNvPr id="12" name="TextBox 11"/>
          <p:cNvSpPr txBox="1"/>
          <p:nvPr/>
        </p:nvSpPr>
        <p:spPr>
          <a:xfrm>
            <a:off x="6583680" y="3108960"/>
            <a:ext cx="4572000" cy="365760"/>
          </a:xfrm>
          <a:prstGeom prst="rect">
            <a:avLst/>
          </a:prstGeom>
          <a:noFill/>
        </p:spPr>
        <p:txBody>
          <a:bodyPr wrap="square">
            <a:spAutoFit/>
          </a:bodyPr>
          <a:lstStyle/>
          <a:p>
            <a:pPr algn="l">
              <a:defRPr sz="1400" b="0" i="0">
                <a:solidFill>
                  <a:srgbClr val="F2EFE9"/>
                </a:solidFill>
                <a:latin typeface="Inter"/>
              </a:defRPr>
            </a:pPr>
            <a:r>
              <a:t>✓  4 Stunden digitales Composing</a:t>
            </a:r>
          </a:p>
        </p:txBody>
      </p:sp>
      <p:sp>
        <p:nvSpPr>
          <p:cNvPr id="13" name="TextBox 12"/>
          <p:cNvSpPr txBox="1"/>
          <p:nvPr/>
        </p:nvSpPr>
        <p:spPr>
          <a:xfrm>
            <a:off x="6583680" y="3611880"/>
            <a:ext cx="4572000" cy="365760"/>
          </a:xfrm>
          <a:prstGeom prst="rect">
            <a:avLst/>
          </a:prstGeom>
          <a:noFill/>
        </p:spPr>
        <p:txBody>
          <a:bodyPr wrap="square">
            <a:spAutoFit/>
          </a:bodyPr>
          <a:lstStyle/>
          <a:p>
            <a:pPr algn="l">
              <a:defRPr sz="1400" b="0" i="0">
                <a:solidFill>
                  <a:srgbClr val="F2EFE9"/>
                </a:solidFill>
                <a:latin typeface="Inter"/>
              </a:defRPr>
            </a:pPr>
            <a:r>
              <a:t>✓  3.500–8.000 € pro Produktion</a:t>
            </a:r>
          </a:p>
        </p:txBody>
      </p:sp>
      <p:sp>
        <p:nvSpPr>
          <p:cNvPr id="14" name="TextBox 13"/>
          <p:cNvSpPr txBox="1"/>
          <p:nvPr/>
        </p:nvSpPr>
        <p:spPr>
          <a:xfrm>
            <a:off x="6583680" y="4114800"/>
            <a:ext cx="4572000" cy="365760"/>
          </a:xfrm>
          <a:prstGeom prst="rect">
            <a:avLst/>
          </a:prstGeom>
          <a:noFill/>
        </p:spPr>
        <p:txBody>
          <a:bodyPr wrap="square">
            <a:spAutoFit/>
          </a:bodyPr>
          <a:lstStyle/>
          <a:p>
            <a:pPr algn="l">
              <a:defRPr sz="1400" b="0" i="0">
                <a:solidFill>
                  <a:srgbClr val="F2EFE9"/>
                </a:solidFill>
                <a:latin typeface="Inter"/>
              </a:defRPr>
            </a:pPr>
            <a:r>
              <a:t>✓  Unbegrenzt skalierbar</a:t>
            </a:r>
          </a:p>
        </p:txBody>
      </p:sp>
      <p:sp>
        <p:nvSpPr>
          <p:cNvPr id="15" name="TextBox 14"/>
          <p:cNvSpPr txBox="1"/>
          <p:nvPr/>
        </p:nvSpPr>
        <p:spPr>
          <a:xfrm>
            <a:off x="6583680" y="4617720"/>
            <a:ext cx="4572000" cy="365760"/>
          </a:xfrm>
          <a:prstGeom prst="rect">
            <a:avLst/>
          </a:prstGeom>
          <a:noFill/>
        </p:spPr>
        <p:txBody>
          <a:bodyPr wrap="square">
            <a:spAutoFit/>
          </a:bodyPr>
          <a:lstStyle/>
          <a:p>
            <a:pPr algn="l">
              <a:defRPr sz="1400" b="0" i="0">
                <a:solidFill>
                  <a:srgbClr val="F2EFE9"/>
                </a:solidFill>
                <a:latin typeface="Inter"/>
              </a:defRPr>
            </a:pPr>
            <a:r>
              <a:t>✓  C2PA-Metadaten integriert</a:t>
            </a:r>
          </a:p>
        </p:txBody>
      </p:sp>
      <p:sp>
        <p:nvSpPr>
          <p:cNvPr id="16" name="Rectangle 15"/>
          <p:cNvSpPr/>
          <p:nvPr/>
        </p:nvSpPr>
        <p:spPr>
          <a:xfrm>
            <a:off x="731520" y="5303520"/>
            <a:ext cx="1069848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698480" cy="548640"/>
          </a:xfrm>
          <a:prstGeom prst="rect">
            <a:avLst/>
          </a:prstGeom>
          <a:noFill/>
        </p:spPr>
        <p:txBody>
          <a:bodyPr wrap="square">
            <a:spAutoFit/>
          </a:bodyPr>
          <a:lstStyle/>
          <a:p>
            <a:pPr algn="l">
              <a:defRPr sz="1200" b="0" i="0">
                <a:solidFill>
                  <a:srgbClr val="B8B4AE"/>
                </a:solidFill>
                <a:latin typeface="JetBrains Mono"/>
              </a:defRPr>
            </a:pPr>
            <a:r>
              <a:t>WORKFLOW:  Studio-Foto (Produkt)  →  KI-Background (Midjourney/Firefly)  →  Composing  →  C2PA-Labeling  →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4A90E2"/>
                </a:solidFill>
                <a:latin typeface="JetBrains Mono"/>
              </a:defRPr>
            </a:pPr>
            <a:r>
              <a:t>SPRECHER: DENYS</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09 · KANALGEWICHTUNG &amp; KPIs</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5 Kanäle. 1 System.</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2926080" cy="5486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606040"/>
            <a:ext cx="1828800" cy="274320"/>
          </a:xfrm>
          <a:prstGeom prst="rect">
            <a:avLst/>
          </a:prstGeom>
          <a:noFill/>
        </p:spPr>
        <p:txBody>
          <a:bodyPr wrap="square">
            <a:spAutoFit/>
          </a:bodyPr>
          <a:lstStyle/>
          <a:p>
            <a:pPr algn="l">
              <a:defRPr sz="1100" b="1" i="0">
                <a:solidFill>
                  <a:srgbClr val="C8A25A"/>
                </a:solidFill>
                <a:latin typeface="JetBrains Mono"/>
              </a:defRPr>
            </a:pPr>
            <a:r>
              <a:t>META ADS  40 %</a:t>
            </a:r>
          </a:p>
        </p:txBody>
      </p:sp>
      <p:sp>
        <p:nvSpPr>
          <p:cNvPr id="8" name="TextBox 7"/>
          <p:cNvSpPr txBox="1"/>
          <p:nvPr/>
        </p:nvSpPr>
        <p:spPr>
          <a:xfrm>
            <a:off x="914400" y="2834640"/>
            <a:ext cx="2743200" cy="228600"/>
          </a:xfrm>
          <a:prstGeom prst="rect">
            <a:avLst/>
          </a:prstGeom>
          <a:noFill/>
        </p:spPr>
        <p:txBody>
          <a:bodyPr wrap="square">
            <a:spAutoFit/>
          </a:bodyPr>
          <a:lstStyle/>
          <a:p>
            <a:pPr algn="l">
              <a:defRPr sz="1000" b="0" i="0">
                <a:solidFill>
                  <a:srgbClr val="B8B4AE"/>
                </a:solidFill>
                <a:latin typeface="Inter"/>
              </a:defRPr>
            </a:pPr>
            <a:r>
              <a:t>Awareness &amp; Consideration</a:t>
            </a:r>
          </a:p>
        </p:txBody>
      </p:sp>
      <p:sp>
        <p:nvSpPr>
          <p:cNvPr id="9" name="TextBox 8"/>
          <p:cNvSpPr txBox="1"/>
          <p:nvPr/>
        </p:nvSpPr>
        <p:spPr>
          <a:xfrm>
            <a:off x="8686800" y="2651760"/>
            <a:ext cx="3200400" cy="365760"/>
          </a:xfrm>
          <a:prstGeom prst="rect">
            <a:avLst/>
          </a:prstGeom>
          <a:noFill/>
        </p:spPr>
        <p:txBody>
          <a:bodyPr wrap="square">
            <a:spAutoFit/>
          </a:bodyPr>
          <a:lstStyle/>
          <a:p>
            <a:pPr algn="r">
              <a:defRPr sz="1000" b="0" i="0">
                <a:solidFill>
                  <a:srgbClr val="6E6B66"/>
                </a:solidFill>
                <a:latin typeface="JetBrains Mono"/>
              </a:defRPr>
            </a:pPr>
            <a:r>
              <a:t>CTR · CPM · Frequency</a:t>
            </a:r>
          </a:p>
        </p:txBody>
      </p:sp>
      <p:sp>
        <p:nvSpPr>
          <p:cNvPr id="10" name="Rectangle 9"/>
          <p:cNvSpPr/>
          <p:nvPr/>
        </p:nvSpPr>
        <p:spPr>
          <a:xfrm>
            <a:off x="731520" y="3337560"/>
            <a:ext cx="1828800" cy="5486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383280"/>
            <a:ext cx="1828800" cy="274320"/>
          </a:xfrm>
          <a:prstGeom prst="rect">
            <a:avLst/>
          </a:prstGeom>
          <a:noFill/>
        </p:spPr>
        <p:txBody>
          <a:bodyPr wrap="square">
            <a:spAutoFit/>
          </a:bodyPr>
          <a:lstStyle/>
          <a:p>
            <a:pPr algn="l">
              <a:defRPr sz="1100" b="1" i="0">
                <a:solidFill>
                  <a:srgbClr val="C8A25A"/>
                </a:solidFill>
                <a:latin typeface="JetBrains Mono"/>
              </a:defRPr>
            </a:pPr>
            <a:r>
              <a:t>TIKTOK ADS  25 %</a:t>
            </a:r>
          </a:p>
        </p:txBody>
      </p:sp>
      <p:sp>
        <p:nvSpPr>
          <p:cNvPr id="12" name="TextBox 11"/>
          <p:cNvSpPr txBox="1"/>
          <p:nvPr/>
        </p:nvSpPr>
        <p:spPr>
          <a:xfrm>
            <a:off x="914400" y="3611880"/>
            <a:ext cx="2743200" cy="228600"/>
          </a:xfrm>
          <a:prstGeom prst="rect">
            <a:avLst/>
          </a:prstGeom>
          <a:noFill/>
        </p:spPr>
        <p:txBody>
          <a:bodyPr wrap="square">
            <a:spAutoFit/>
          </a:bodyPr>
          <a:lstStyle/>
          <a:p>
            <a:pPr algn="l">
              <a:defRPr sz="1000" b="0" i="0">
                <a:solidFill>
                  <a:srgbClr val="B8B4AE"/>
                </a:solidFill>
                <a:latin typeface="Inter"/>
              </a:defRPr>
            </a:pPr>
            <a:r>
              <a:t>Thumb-Stop &amp; Virality</a:t>
            </a:r>
          </a:p>
        </p:txBody>
      </p:sp>
      <p:sp>
        <p:nvSpPr>
          <p:cNvPr id="13" name="TextBox 12"/>
          <p:cNvSpPr txBox="1"/>
          <p:nvPr/>
        </p:nvSpPr>
        <p:spPr>
          <a:xfrm>
            <a:off x="8686800" y="3429000"/>
            <a:ext cx="3200400" cy="365760"/>
          </a:xfrm>
          <a:prstGeom prst="rect">
            <a:avLst/>
          </a:prstGeom>
          <a:noFill/>
        </p:spPr>
        <p:txBody>
          <a:bodyPr wrap="square">
            <a:spAutoFit/>
          </a:bodyPr>
          <a:lstStyle/>
          <a:p>
            <a:pPr algn="r">
              <a:defRPr sz="1000" b="0" i="0">
                <a:solidFill>
                  <a:srgbClr val="6E6B66"/>
                </a:solidFill>
                <a:latin typeface="JetBrains Mono"/>
              </a:defRPr>
            </a:pPr>
            <a:r>
              <a:t>Thumb-Stop Rate &gt; 35 %</a:t>
            </a:r>
          </a:p>
        </p:txBody>
      </p:sp>
      <p:sp>
        <p:nvSpPr>
          <p:cNvPr id="14" name="Rectangle 13"/>
          <p:cNvSpPr/>
          <p:nvPr/>
        </p:nvSpPr>
        <p:spPr>
          <a:xfrm>
            <a:off x="731520" y="4114800"/>
            <a:ext cx="1463040" cy="5486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60520"/>
            <a:ext cx="1828800" cy="274320"/>
          </a:xfrm>
          <a:prstGeom prst="rect">
            <a:avLst/>
          </a:prstGeom>
          <a:noFill/>
        </p:spPr>
        <p:txBody>
          <a:bodyPr wrap="square">
            <a:spAutoFit/>
          </a:bodyPr>
          <a:lstStyle/>
          <a:p>
            <a:pPr algn="l">
              <a:defRPr sz="1100" b="1" i="0">
                <a:solidFill>
                  <a:srgbClr val="C8A25A"/>
                </a:solidFill>
                <a:latin typeface="JetBrains Mono"/>
              </a:defRPr>
            </a:pPr>
            <a:r>
              <a:t>GOOGLE SEARCH  20 %</a:t>
            </a:r>
          </a:p>
        </p:txBody>
      </p:sp>
      <p:sp>
        <p:nvSpPr>
          <p:cNvPr id="16" name="TextBox 15"/>
          <p:cNvSpPr txBox="1"/>
          <p:nvPr/>
        </p:nvSpPr>
        <p:spPr>
          <a:xfrm>
            <a:off x="914400" y="4389120"/>
            <a:ext cx="2743200" cy="228600"/>
          </a:xfrm>
          <a:prstGeom prst="rect">
            <a:avLst/>
          </a:prstGeom>
          <a:noFill/>
        </p:spPr>
        <p:txBody>
          <a:bodyPr wrap="square">
            <a:spAutoFit/>
          </a:bodyPr>
          <a:lstStyle/>
          <a:p>
            <a:pPr algn="l">
              <a:defRPr sz="1000" b="0" i="0">
                <a:solidFill>
                  <a:srgbClr val="B8B4AE"/>
                </a:solidFill>
                <a:latin typeface="Inter"/>
              </a:defRPr>
            </a:pPr>
            <a:r>
              <a:t>Conversion-Sicherung</a:t>
            </a:r>
          </a:p>
        </p:txBody>
      </p:sp>
      <p:sp>
        <p:nvSpPr>
          <p:cNvPr id="17" name="TextBox 16"/>
          <p:cNvSpPr txBox="1"/>
          <p:nvPr/>
        </p:nvSpPr>
        <p:spPr>
          <a:xfrm>
            <a:off x="8686800" y="4206240"/>
            <a:ext cx="3200400" cy="365760"/>
          </a:xfrm>
          <a:prstGeom prst="rect">
            <a:avLst/>
          </a:prstGeom>
          <a:noFill/>
        </p:spPr>
        <p:txBody>
          <a:bodyPr wrap="square">
            <a:spAutoFit/>
          </a:bodyPr>
          <a:lstStyle/>
          <a:p>
            <a:pPr algn="r">
              <a:defRPr sz="1000" b="0" i="0">
                <a:solidFill>
                  <a:srgbClr val="6E6B66"/>
                </a:solidFill>
                <a:latin typeface="JetBrains Mono"/>
              </a:defRPr>
            </a:pPr>
            <a:r>
              <a:t>CPA · ROAS</a:t>
            </a:r>
          </a:p>
        </p:txBody>
      </p:sp>
      <p:sp>
        <p:nvSpPr>
          <p:cNvPr id="18" name="Rectangle 17"/>
          <p:cNvSpPr/>
          <p:nvPr/>
        </p:nvSpPr>
        <p:spPr>
          <a:xfrm>
            <a:off x="731520" y="4892040"/>
            <a:ext cx="731520" cy="5486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37760"/>
            <a:ext cx="1828800" cy="274320"/>
          </a:xfrm>
          <a:prstGeom prst="rect">
            <a:avLst/>
          </a:prstGeom>
          <a:noFill/>
        </p:spPr>
        <p:txBody>
          <a:bodyPr wrap="square">
            <a:spAutoFit/>
          </a:bodyPr>
          <a:lstStyle/>
          <a:p>
            <a:pPr algn="l">
              <a:defRPr sz="1100" b="1" i="0">
                <a:solidFill>
                  <a:srgbClr val="C8A25A"/>
                </a:solidFill>
                <a:latin typeface="JetBrains Mono"/>
              </a:defRPr>
            </a:pPr>
            <a:r>
              <a:t>E-MAIL  10 %</a:t>
            </a:r>
          </a:p>
        </p:txBody>
      </p:sp>
      <p:sp>
        <p:nvSpPr>
          <p:cNvPr id="20" name="TextBox 19"/>
          <p:cNvSpPr txBox="1"/>
          <p:nvPr/>
        </p:nvSpPr>
        <p:spPr>
          <a:xfrm>
            <a:off x="914400" y="5166360"/>
            <a:ext cx="2743200" cy="228600"/>
          </a:xfrm>
          <a:prstGeom prst="rect">
            <a:avLst/>
          </a:prstGeom>
          <a:noFill/>
        </p:spPr>
        <p:txBody>
          <a:bodyPr wrap="square">
            <a:spAutoFit/>
          </a:bodyPr>
          <a:lstStyle/>
          <a:p>
            <a:pPr algn="l">
              <a:defRPr sz="1000" b="0" i="0">
                <a:solidFill>
                  <a:srgbClr val="B8B4AE"/>
                </a:solidFill>
                <a:latin typeface="Inter"/>
              </a:defRPr>
            </a:pPr>
            <a:r>
              <a:t>Lead-Reaktivierung</a:t>
            </a:r>
          </a:p>
        </p:txBody>
      </p:sp>
      <p:sp>
        <p:nvSpPr>
          <p:cNvPr id="21" name="TextBox 20"/>
          <p:cNvSpPr txBox="1"/>
          <p:nvPr/>
        </p:nvSpPr>
        <p:spPr>
          <a:xfrm>
            <a:off x="8686800" y="4983480"/>
            <a:ext cx="3200400" cy="365760"/>
          </a:xfrm>
          <a:prstGeom prst="rect">
            <a:avLst/>
          </a:prstGeom>
          <a:noFill/>
        </p:spPr>
        <p:txBody>
          <a:bodyPr wrap="square">
            <a:spAutoFit/>
          </a:bodyPr>
          <a:lstStyle/>
          <a:p>
            <a:pPr algn="r">
              <a:defRPr sz="1000" b="0" i="0">
                <a:solidFill>
                  <a:srgbClr val="6E6B66"/>
                </a:solidFill>
                <a:latin typeface="JetBrains Mono"/>
              </a:defRPr>
            </a:pPr>
            <a:r>
              <a:t>Open Rate · CLV</a:t>
            </a:r>
          </a:p>
        </p:txBody>
      </p:sp>
      <p:sp>
        <p:nvSpPr>
          <p:cNvPr id="22" name="Rectangle 21"/>
          <p:cNvSpPr/>
          <p:nvPr/>
        </p:nvSpPr>
        <p:spPr>
          <a:xfrm>
            <a:off x="731520" y="5669279"/>
            <a:ext cx="365760" cy="5486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714999"/>
            <a:ext cx="1828800" cy="274320"/>
          </a:xfrm>
          <a:prstGeom prst="rect">
            <a:avLst/>
          </a:prstGeom>
          <a:noFill/>
        </p:spPr>
        <p:txBody>
          <a:bodyPr wrap="square">
            <a:spAutoFit/>
          </a:bodyPr>
          <a:lstStyle/>
          <a:p>
            <a:pPr algn="l">
              <a:defRPr sz="1100" b="1" i="0">
                <a:solidFill>
                  <a:srgbClr val="C8A25A"/>
                </a:solidFill>
                <a:latin typeface="JetBrains Mono"/>
              </a:defRPr>
            </a:pPr>
            <a:r>
              <a:t>LINKEDIN  5 %</a:t>
            </a:r>
          </a:p>
        </p:txBody>
      </p:sp>
      <p:sp>
        <p:nvSpPr>
          <p:cNvPr id="24" name="TextBox 23"/>
          <p:cNvSpPr txBox="1"/>
          <p:nvPr/>
        </p:nvSpPr>
        <p:spPr>
          <a:xfrm>
            <a:off x="914400" y="5943599"/>
            <a:ext cx="2743200" cy="228600"/>
          </a:xfrm>
          <a:prstGeom prst="rect">
            <a:avLst/>
          </a:prstGeom>
          <a:noFill/>
        </p:spPr>
        <p:txBody>
          <a:bodyPr wrap="square">
            <a:spAutoFit/>
          </a:bodyPr>
          <a:lstStyle/>
          <a:p>
            <a:pPr algn="l">
              <a:defRPr sz="1000" b="0" i="0">
                <a:solidFill>
                  <a:srgbClr val="B8B4AE"/>
                </a:solidFill>
                <a:latin typeface="Inter"/>
              </a:defRPr>
            </a:pPr>
            <a:r>
              <a:t>B2B-Trust</a:t>
            </a:r>
          </a:p>
        </p:txBody>
      </p:sp>
      <p:sp>
        <p:nvSpPr>
          <p:cNvPr id="25" name="TextBox 24"/>
          <p:cNvSpPr txBox="1"/>
          <p:nvPr/>
        </p:nvSpPr>
        <p:spPr>
          <a:xfrm>
            <a:off x="8686800" y="5760719"/>
            <a:ext cx="3200400" cy="365760"/>
          </a:xfrm>
          <a:prstGeom prst="rect">
            <a:avLst/>
          </a:prstGeom>
          <a:noFill/>
        </p:spPr>
        <p:txBody>
          <a:bodyPr wrap="square">
            <a:spAutoFit/>
          </a:bodyPr>
          <a:lstStyle/>
          <a:p>
            <a:pPr algn="r">
              <a:defRPr sz="1000" b="0" i="0">
                <a:solidFill>
                  <a:srgbClr val="6E6B66"/>
                </a:solidFill>
                <a:latin typeface="JetBrains Mono"/>
              </a:defRPr>
            </a:pPr>
            <a:r>
              <a:t>Engagement · Pipeline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4A90E2"/>
                </a:solidFill>
                <a:latin typeface="JetBrains Mono"/>
              </a:defRPr>
            </a:pPr>
            <a:r>
              <a:t>SPRECHER: DENYS</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10 · DER 5-SCHRITT-ALGORITHMUS</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Daten treiben die Kreation. Nicht umgekehrt.</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2011680" cy="22860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43200"/>
            <a:ext cx="1645920" cy="365760"/>
          </a:xfrm>
          <a:prstGeom prst="rect">
            <a:avLst/>
          </a:prstGeom>
          <a:noFill/>
        </p:spPr>
        <p:txBody>
          <a:bodyPr wrap="square">
            <a:spAutoFit/>
          </a:bodyPr>
          <a:lstStyle/>
          <a:p>
            <a:pPr algn="l">
              <a:defRPr sz="2800" b="1" i="0">
                <a:solidFill>
                  <a:srgbClr val="C8A25A"/>
                </a:solidFill>
                <a:latin typeface="Cormorant Garamond"/>
              </a:defRPr>
            </a:pPr>
            <a:r>
              <a:t>01</a:t>
            </a:r>
          </a:p>
        </p:txBody>
      </p:sp>
      <p:sp>
        <p:nvSpPr>
          <p:cNvPr id="8" name="TextBox 7"/>
          <p:cNvSpPr txBox="1"/>
          <p:nvPr/>
        </p:nvSpPr>
        <p:spPr>
          <a:xfrm>
            <a:off x="914400" y="3291840"/>
            <a:ext cx="1645920" cy="274320"/>
          </a:xfrm>
          <a:prstGeom prst="rect">
            <a:avLst/>
          </a:prstGeom>
          <a:noFill/>
        </p:spPr>
        <p:txBody>
          <a:bodyPr wrap="square">
            <a:spAutoFit/>
          </a:bodyPr>
          <a:lstStyle/>
          <a:p>
            <a:pPr algn="l">
              <a:defRPr sz="1100" b="1" i="0">
                <a:solidFill>
                  <a:srgbClr val="F2EFE9"/>
                </a:solidFill>
                <a:latin typeface="JetBrains Mono"/>
              </a:defRPr>
            </a:pPr>
            <a:r>
              <a:t>DIAGNOSE</a:t>
            </a:r>
          </a:p>
        </p:txBody>
      </p:sp>
      <p:sp>
        <p:nvSpPr>
          <p:cNvPr id="9" name="TextBox 8"/>
          <p:cNvSpPr txBox="1"/>
          <p:nvPr/>
        </p:nvSpPr>
        <p:spPr>
          <a:xfrm>
            <a:off x="914400" y="3749039"/>
            <a:ext cx="1645920" cy="731520"/>
          </a:xfrm>
          <a:prstGeom prst="rect">
            <a:avLst/>
          </a:prstGeom>
          <a:noFill/>
        </p:spPr>
        <p:txBody>
          <a:bodyPr wrap="square">
            <a:spAutoFit/>
          </a:bodyPr>
          <a:lstStyle/>
          <a:p>
            <a:pPr algn="l">
              <a:defRPr sz="1000" b="0" i="0">
                <a:solidFill>
                  <a:srgbClr val="B8B4AE"/>
                </a:solidFill>
                <a:latin typeface="Inter"/>
              </a:defRPr>
            </a:pPr>
            <a:r>
              <a:t>Creative Audit · Fatigue-Erkennung</a:t>
            </a:r>
          </a:p>
        </p:txBody>
      </p:sp>
      <p:sp>
        <p:nvSpPr>
          <p:cNvPr id="10" name="Rectangle 9"/>
          <p:cNvSpPr/>
          <p:nvPr/>
        </p:nvSpPr>
        <p:spPr>
          <a:xfrm>
            <a:off x="2971800" y="2560320"/>
            <a:ext cx="2011680" cy="22860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2743200"/>
            <a:ext cx="1645920" cy="365760"/>
          </a:xfrm>
          <a:prstGeom prst="rect">
            <a:avLst/>
          </a:prstGeom>
          <a:noFill/>
        </p:spPr>
        <p:txBody>
          <a:bodyPr wrap="square">
            <a:spAutoFit/>
          </a:bodyPr>
          <a:lstStyle/>
          <a:p>
            <a:pPr algn="l">
              <a:defRPr sz="2800" b="1" i="0">
                <a:solidFill>
                  <a:srgbClr val="C8A25A"/>
                </a:solidFill>
                <a:latin typeface="Cormorant Garamond"/>
              </a:defRPr>
            </a:pPr>
            <a:r>
              <a:t>02</a:t>
            </a:r>
          </a:p>
        </p:txBody>
      </p:sp>
      <p:sp>
        <p:nvSpPr>
          <p:cNvPr id="12" name="TextBox 11"/>
          <p:cNvSpPr txBox="1"/>
          <p:nvPr/>
        </p:nvSpPr>
        <p:spPr>
          <a:xfrm>
            <a:off x="3154680" y="3291840"/>
            <a:ext cx="1645920" cy="274320"/>
          </a:xfrm>
          <a:prstGeom prst="rect">
            <a:avLst/>
          </a:prstGeom>
          <a:noFill/>
        </p:spPr>
        <p:txBody>
          <a:bodyPr wrap="square">
            <a:spAutoFit/>
          </a:bodyPr>
          <a:lstStyle/>
          <a:p>
            <a:pPr algn="l">
              <a:defRPr sz="1100" b="1" i="0">
                <a:solidFill>
                  <a:srgbClr val="F2EFE9"/>
                </a:solidFill>
                <a:latin typeface="JetBrains Mono"/>
              </a:defRPr>
            </a:pPr>
            <a:r>
              <a:t>HYPOTHESEN</a:t>
            </a:r>
          </a:p>
        </p:txBody>
      </p:sp>
      <p:sp>
        <p:nvSpPr>
          <p:cNvPr id="13" name="TextBox 12"/>
          <p:cNvSpPr txBox="1"/>
          <p:nvPr/>
        </p:nvSpPr>
        <p:spPr>
          <a:xfrm>
            <a:off x="3154680" y="3749039"/>
            <a:ext cx="1645920" cy="731520"/>
          </a:xfrm>
          <a:prstGeom prst="rect">
            <a:avLst/>
          </a:prstGeom>
          <a:noFill/>
        </p:spPr>
        <p:txBody>
          <a:bodyPr wrap="square">
            <a:spAutoFit/>
          </a:bodyPr>
          <a:lstStyle/>
          <a:p>
            <a:pPr algn="l">
              <a:defRPr sz="1000" b="0" i="0">
                <a:solidFill>
                  <a:srgbClr val="B8B4AE"/>
                </a:solidFill>
                <a:latin typeface="Inter"/>
              </a:defRPr>
            </a:pPr>
            <a:r>
              <a:t>3 Performance-Hypothesen formulieren</a:t>
            </a:r>
          </a:p>
        </p:txBody>
      </p:sp>
      <p:sp>
        <p:nvSpPr>
          <p:cNvPr id="14" name="Rectangle 13"/>
          <p:cNvSpPr/>
          <p:nvPr/>
        </p:nvSpPr>
        <p:spPr>
          <a:xfrm>
            <a:off x="5212080" y="2560320"/>
            <a:ext cx="2011680" cy="22860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2743200"/>
            <a:ext cx="1645920" cy="365760"/>
          </a:xfrm>
          <a:prstGeom prst="rect">
            <a:avLst/>
          </a:prstGeom>
          <a:noFill/>
        </p:spPr>
        <p:txBody>
          <a:bodyPr wrap="square">
            <a:spAutoFit/>
          </a:bodyPr>
          <a:lstStyle/>
          <a:p>
            <a:pPr algn="l">
              <a:defRPr sz="2800" b="1" i="0">
                <a:solidFill>
                  <a:srgbClr val="C8A25A"/>
                </a:solidFill>
                <a:latin typeface="Cormorant Garamond"/>
              </a:defRPr>
            </a:pPr>
            <a:r>
              <a:t>03</a:t>
            </a:r>
          </a:p>
        </p:txBody>
      </p:sp>
      <p:sp>
        <p:nvSpPr>
          <p:cNvPr id="16" name="TextBox 15"/>
          <p:cNvSpPr txBox="1"/>
          <p:nvPr/>
        </p:nvSpPr>
        <p:spPr>
          <a:xfrm>
            <a:off x="5394960" y="3291840"/>
            <a:ext cx="1645920" cy="274320"/>
          </a:xfrm>
          <a:prstGeom prst="rect">
            <a:avLst/>
          </a:prstGeom>
          <a:noFill/>
        </p:spPr>
        <p:txBody>
          <a:bodyPr wrap="square">
            <a:spAutoFit/>
          </a:bodyPr>
          <a:lstStyle/>
          <a:p>
            <a:pPr algn="l">
              <a:defRPr sz="1100" b="1" i="0">
                <a:solidFill>
                  <a:srgbClr val="F2EFE9"/>
                </a:solidFill>
                <a:latin typeface="JetBrains Mono"/>
              </a:defRPr>
            </a:pPr>
            <a:r>
              <a:t>EXECUTION</a:t>
            </a:r>
          </a:p>
        </p:txBody>
      </p:sp>
      <p:sp>
        <p:nvSpPr>
          <p:cNvPr id="17" name="TextBox 16"/>
          <p:cNvSpPr txBox="1"/>
          <p:nvPr/>
        </p:nvSpPr>
        <p:spPr>
          <a:xfrm>
            <a:off x="5394960" y="3749039"/>
            <a:ext cx="1645920" cy="731520"/>
          </a:xfrm>
          <a:prstGeom prst="rect">
            <a:avLst/>
          </a:prstGeom>
          <a:noFill/>
        </p:spPr>
        <p:txBody>
          <a:bodyPr wrap="square">
            <a:spAutoFit/>
          </a:bodyPr>
          <a:lstStyle/>
          <a:p>
            <a:pPr algn="l">
              <a:defRPr sz="1000" b="0" i="0">
                <a:solidFill>
                  <a:srgbClr val="B8B4AE"/>
                </a:solidFill>
                <a:latin typeface="Inter"/>
              </a:defRPr>
            </a:pPr>
            <a:r>
              <a:t>Hybrid Production · Asset-Erstellung</a:t>
            </a:r>
          </a:p>
        </p:txBody>
      </p:sp>
      <p:sp>
        <p:nvSpPr>
          <p:cNvPr id="18" name="Rectangle 17"/>
          <p:cNvSpPr/>
          <p:nvPr/>
        </p:nvSpPr>
        <p:spPr>
          <a:xfrm>
            <a:off x="7452360" y="2560320"/>
            <a:ext cx="2011680" cy="22860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2743200"/>
            <a:ext cx="1645920" cy="365760"/>
          </a:xfrm>
          <a:prstGeom prst="rect">
            <a:avLst/>
          </a:prstGeom>
          <a:noFill/>
        </p:spPr>
        <p:txBody>
          <a:bodyPr wrap="square">
            <a:spAutoFit/>
          </a:bodyPr>
          <a:lstStyle/>
          <a:p>
            <a:pPr algn="l">
              <a:defRPr sz="2800" b="1" i="0">
                <a:solidFill>
                  <a:srgbClr val="C8A25A"/>
                </a:solidFill>
                <a:latin typeface="Cormorant Garamond"/>
              </a:defRPr>
            </a:pPr>
            <a:r>
              <a:t>04</a:t>
            </a:r>
          </a:p>
        </p:txBody>
      </p:sp>
      <p:sp>
        <p:nvSpPr>
          <p:cNvPr id="20" name="TextBox 19"/>
          <p:cNvSpPr txBox="1"/>
          <p:nvPr/>
        </p:nvSpPr>
        <p:spPr>
          <a:xfrm>
            <a:off x="7635240" y="3291840"/>
            <a:ext cx="1645920" cy="274320"/>
          </a:xfrm>
          <a:prstGeom prst="rect">
            <a:avLst/>
          </a:prstGeom>
          <a:noFill/>
        </p:spPr>
        <p:txBody>
          <a:bodyPr wrap="square">
            <a:spAutoFit/>
          </a:bodyPr>
          <a:lstStyle/>
          <a:p>
            <a:pPr algn="l">
              <a:defRPr sz="1100" b="1" i="0">
                <a:solidFill>
                  <a:srgbClr val="F2EFE9"/>
                </a:solidFill>
                <a:latin typeface="JetBrains Mono"/>
              </a:defRPr>
            </a:pPr>
            <a:r>
              <a:t>TESTING</a:t>
            </a:r>
          </a:p>
        </p:txBody>
      </p:sp>
      <p:sp>
        <p:nvSpPr>
          <p:cNvPr id="21" name="TextBox 20"/>
          <p:cNvSpPr txBox="1"/>
          <p:nvPr/>
        </p:nvSpPr>
        <p:spPr>
          <a:xfrm>
            <a:off x="7635240" y="3749039"/>
            <a:ext cx="1645920" cy="731520"/>
          </a:xfrm>
          <a:prstGeom prst="rect">
            <a:avLst/>
          </a:prstGeom>
          <a:noFill/>
        </p:spPr>
        <p:txBody>
          <a:bodyPr wrap="square">
            <a:spAutoFit/>
          </a:bodyPr>
          <a:lstStyle/>
          <a:p>
            <a:pPr algn="l">
              <a:defRPr sz="1000" b="0" i="0">
                <a:solidFill>
                  <a:srgbClr val="B8B4AE"/>
                </a:solidFill>
                <a:latin typeface="Inter"/>
              </a:defRPr>
            </a:pPr>
            <a:r>
              <a:t>A/B-Split · 5 Tage · minimales Budget</a:t>
            </a:r>
          </a:p>
        </p:txBody>
      </p:sp>
      <p:sp>
        <p:nvSpPr>
          <p:cNvPr id="22" name="Rectangle 21"/>
          <p:cNvSpPr/>
          <p:nvPr/>
        </p:nvSpPr>
        <p:spPr>
          <a:xfrm>
            <a:off x="9692640" y="2560320"/>
            <a:ext cx="2011680" cy="228600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0" y="2743200"/>
            <a:ext cx="1645920" cy="365760"/>
          </a:xfrm>
          <a:prstGeom prst="rect">
            <a:avLst/>
          </a:prstGeom>
          <a:noFill/>
        </p:spPr>
        <p:txBody>
          <a:bodyPr wrap="square">
            <a:spAutoFit/>
          </a:bodyPr>
          <a:lstStyle/>
          <a:p>
            <a:pPr algn="l">
              <a:defRPr sz="2800" b="1" i="0">
                <a:solidFill>
                  <a:srgbClr val="C8A25A"/>
                </a:solidFill>
                <a:latin typeface="Cormorant Garamond"/>
              </a:defRPr>
            </a:pPr>
            <a:r>
              <a:t>05</a:t>
            </a:r>
          </a:p>
        </p:txBody>
      </p:sp>
      <p:sp>
        <p:nvSpPr>
          <p:cNvPr id="24" name="TextBox 23"/>
          <p:cNvSpPr txBox="1"/>
          <p:nvPr/>
        </p:nvSpPr>
        <p:spPr>
          <a:xfrm>
            <a:off x="9875520" y="3291840"/>
            <a:ext cx="1645920" cy="274320"/>
          </a:xfrm>
          <a:prstGeom prst="rect">
            <a:avLst/>
          </a:prstGeom>
          <a:noFill/>
        </p:spPr>
        <p:txBody>
          <a:bodyPr wrap="square">
            <a:spAutoFit/>
          </a:bodyPr>
          <a:lstStyle/>
          <a:p>
            <a:pPr algn="l">
              <a:defRPr sz="1100" b="1" i="0">
                <a:solidFill>
                  <a:srgbClr val="F2EFE9"/>
                </a:solidFill>
                <a:latin typeface="JetBrains Mono"/>
              </a:defRPr>
            </a:pPr>
            <a:r>
              <a:t>LOOP</a:t>
            </a:r>
          </a:p>
        </p:txBody>
      </p:sp>
      <p:sp>
        <p:nvSpPr>
          <p:cNvPr id="25" name="TextBox 24"/>
          <p:cNvSpPr txBox="1"/>
          <p:nvPr/>
        </p:nvSpPr>
        <p:spPr>
          <a:xfrm>
            <a:off x="9875520" y="3749039"/>
            <a:ext cx="1645920" cy="731520"/>
          </a:xfrm>
          <a:prstGeom prst="rect">
            <a:avLst/>
          </a:prstGeom>
          <a:noFill/>
        </p:spPr>
        <p:txBody>
          <a:bodyPr wrap="square">
            <a:spAutoFit/>
          </a:bodyPr>
          <a:lstStyle/>
          <a:p>
            <a:pPr algn="l">
              <a:defRPr sz="1000" b="0" i="0">
                <a:solidFill>
                  <a:srgbClr val="B8B4AE"/>
                </a:solidFill>
                <a:latin typeface="Inter"/>
              </a:defRPr>
            </a:pPr>
            <a:r>
              <a:t>Gewinner skalieren · Verlierer archivieren · Learning Log</a:t>
            </a:r>
          </a:p>
        </p:txBody>
      </p:sp>
      <p:sp>
        <p:nvSpPr>
          <p:cNvPr id="26" name="TextBox 25"/>
          <p:cNvSpPr txBox="1"/>
          <p:nvPr/>
        </p:nvSpPr>
        <p:spPr>
          <a:xfrm>
            <a:off x="731520" y="5303520"/>
            <a:ext cx="10698480" cy="731520"/>
          </a:xfrm>
          <a:prstGeom prst="rect">
            <a:avLst/>
          </a:prstGeom>
          <a:noFill/>
        </p:spPr>
        <p:txBody>
          <a:bodyPr wrap="square">
            <a:spAutoFit/>
          </a:bodyPr>
          <a:lstStyle/>
          <a:p>
            <a:pPr algn="l">
              <a:defRPr sz="1200" b="0" i="0">
                <a:solidFill>
                  <a:srgbClr val="6E6B66"/>
                </a:solidFill>
                <a:latin typeface="JetBrains Mono"/>
              </a:defRPr>
            </a:pPr>
            <a:r>
              <a:t>TESTING MATRIX: Craft-Winkel · Data-Winkel · Luxury-Winkel · Results-Winkel</a:t>
            </a:r>
            <a:br/>
            <a:r>
              <a:t>Jeder Winkel isoliert einen psychologischen Hebel der Zielgruppe.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4A90E2"/>
                </a:solidFill>
                <a:latin typeface="JetBrains Mono"/>
              </a:defRPr>
            </a:pPr>
            <a:r>
              <a:t>SPRECHER: DENYS</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11 · 25-TAGE-TESTPLAN</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3 Sprints. 25 Tage. Null Emotion.</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3291840" cy="29260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743200"/>
            <a:ext cx="2743200" cy="274320"/>
          </a:xfrm>
          <a:prstGeom prst="rect">
            <a:avLst/>
          </a:prstGeom>
          <a:noFill/>
        </p:spPr>
        <p:txBody>
          <a:bodyPr wrap="square">
            <a:spAutoFit/>
          </a:bodyPr>
          <a:lstStyle/>
          <a:p>
            <a:pPr algn="l">
              <a:defRPr sz="1200" b="1" i="0">
                <a:solidFill>
                  <a:srgbClr val="C8A25A"/>
                </a:solidFill>
                <a:latin typeface="JetBrains Mono"/>
              </a:defRPr>
            </a:pPr>
            <a:r>
              <a:t>SPRINT 1  ·  TAG 1–8</a:t>
            </a:r>
          </a:p>
        </p:txBody>
      </p:sp>
      <p:sp>
        <p:nvSpPr>
          <p:cNvPr id="8" name="TextBox 7"/>
          <p:cNvSpPr txBox="1"/>
          <p:nvPr/>
        </p:nvSpPr>
        <p:spPr>
          <a:xfrm>
            <a:off x="1005840" y="3200400"/>
            <a:ext cx="2743200" cy="365760"/>
          </a:xfrm>
          <a:prstGeom prst="rect">
            <a:avLst/>
          </a:prstGeom>
          <a:noFill/>
        </p:spPr>
        <p:txBody>
          <a:bodyPr wrap="square">
            <a:spAutoFit/>
          </a:bodyPr>
          <a:lstStyle/>
          <a:p>
            <a:pPr algn="l">
              <a:defRPr sz="2000" b="0" i="1">
                <a:solidFill>
                  <a:srgbClr val="F2EFE9"/>
                </a:solidFill>
                <a:latin typeface="Cormorant Garamond"/>
              </a:defRPr>
            </a:pPr>
            <a:r>
              <a:t>Setup</a:t>
            </a:r>
          </a:p>
        </p:txBody>
      </p:sp>
      <p:sp>
        <p:nvSpPr>
          <p:cNvPr id="9" name="TextBox 8"/>
          <p:cNvSpPr txBox="1"/>
          <p:nvPr/>
        </p:nvSpPr>
        <p:spPr>
          <a:xfrm>
            <a:off x="1188720" y="3749039"/>
            <a:ext cx="2560320" cy="320040"/>
          </a:xfrm>
          <a:prstGeom prst="rect">
            <a:avLst/>
          </a:prstGeom>
          <a:noFill/>
        </p:spPr>
        <p:txBody>
          <a:bodyPr wrap="square">
            <a:spAutoFit/>
          </a:bodyPr>
          <a:lstStyle/>
          <a:p>
            <a:pPr algn="l">
              <a:defRPr sz="1200" b="0" i="0">
                <a:solidFill>
                  <a:srgbClr val="B8B4AE"/>
                </a:solidFill>
                <a:latin typeface="Inter"/>
              </a:defRPr>
            </a:pPr>
            <a:r>
              <a:t>→  Pixel-Tracking aufbauen</a:t>
            </a:r>
          </a:p>
        </p:txBody>
      </p:sp>
      <p:sp>
        <p:nvSpPr>
          <p:cNvPr id="10" name="TextBox 9"/>
          <p:cNvSpPr txBox="1"/>
          <p:nvPr/>
        </p:nvSpPr>
        <p:spPr>
          <a:xfrm>
            <a:off x="1188720" y="4206240"/>
            <a:ext cx="2560320" cy="320040"/>
          </a:xfrm>
          <a:prstGeom prst="rect">
            <a:avLst/>
          </a:prstGeom>
          <a:noFill/>
        </p:spPr>
        <p:txBody>
          <a:bodyPr wrap="square">
            <a:spAutoFit/>
          </a:bodyPr>
          <a:lstStyle/>
          <a:p>
            <a:pPr algn="l">
              <a:defRPr sz="1200" b="0" i="0">
                <a:solidFill>
                  <a:srgbClr val="B8B4AE"/>
                </a:solidFill>
                <a:latin typeface="Inter"/>
              </a:defRPr>
            </a:pPr>
            <a:r>
              <a:t>→  Audiences definieren</a:t>
            </a:r>
          </a:p>
        </p:txBody>
      </p:sp>
      <p:sp>
        <p:nvSpPr>
          <p:cNvPr id="11" name="TextBox 10"/>
          <p:cNvSpPr txBox="1"/>
          <p:nvPr/>
        </p:nvSpPr>
        <p:spPr>
          <a:xfrm>
            <a:off x="1188720" y="4663440"/>
            <a:ext cx="2560320" cy="320040"/>
          </a:xfrm>
          <a:prstGeom prst="rect">
            <a:avLst/>
          </a:prstGeom>
          <a:noFill/>
        </p:spPr>
        <p:txBody>
          <a:bodyPr wrap="square">
            <a:spAutoFit/>
          </a:bodyPr>
          <a:lstStyle/>
          <a:p>
            <a:pPr algn="l">
              <a:defRPr sz="1200" b="0" i="0">
                <a:solidFill>
                  <a:srgbClr val="B8B4AE"/>
                </a:solidFill>
                <a:latin typeface="Inter"/>
              </a:defRPr>
            </a:pPr>
            <a:r>
              <a:t>→  Baseline-Metriken erfassen</a:t>
            </a:r>
          </a:p>
        </p:txBody>
      </p:sp>
      <p:sp>
        <p:nvSpPr>
          <p:cNvPr id="12" name="Rectangle 11"/>
          <p:cNvSpPr/>
          <p:nvPr/>
        </p:nvSpPr>
        <p:spPr>
          <a:xfrm>
            <a:off x="4480559" y="2560320"/>
            <a:ext cx="3291840" cy="29260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2743200"/>
            <a:ext cx="2743200" cy="274320"/>
          </a:xfrm>
          <a:prstGeom prst="rect">
            <a:avLst/>
          </a:prstGeom>
          <a:noFill/>
        </p:spPr>
        <p:txBody>
          <a:bodyPr wrap="square">
            <a:spAutoFit/>
          </a:bodyPr>
          <a:lstStyle/>
          <a:p>
            <a:pPr algn="l">
              <a:defRPr sz="1200" b="1" i="0">
                <a:solidFill>
                  <a:srgbClr val="C8A25A"/>
                </a:solidFill>
                <a:latin typeface="JetBrains Mono"/>
              </a:defRPr>
            </a:pPr>
            <a:r>
              <a:t>SPRINT 2  ·  TAG 9–16</a:t>
            </a:r>
          </a:p>
        </p:txBody>
      </p:sp>
      <p:sp>
        <p:nvSpPr>
          <p:cNvPr id="14" name="TextBox 13"/>
          <p:cNvSpPr txBox="1"/>
          <p:nvPr/>
        </p:nvSpPr>
        <p:spPr>
          <a:xfrm>
            <a:off x="4754879" y="3200400"/>
            <a:ext cx="2743200" cy="365760"/>
          </a:xfrm>
          <a:prstGeom prst="rect">
            <a:avLst/>
          </a:prstGeom>
          <a:noFill/>
        </p:spPr>
        <p:txBody>
          <a:bodyPr wrap="square">
            <a:spAutoFit/>
          </a:bodyPr>
          <a:lstStyle/>
          <a:p>
            <a:pPr algn="l">
              <a:defRPr sz="2000" b="0" i="1">
                <a:solidFill>
                  <a:srgbClr val="F2EFE9"/>
                </a:solidFill>
                <a:latin typeface="Cormorant Garamond"/>
              </a:defRPr>
            </a:pPr>
            <a:r>
              <a:t>Testing</a:t>
            </a:r>
          </a:p>
        </p:txBody>
      </p:sp>
      <p:sp>
        <p:nvSpPr>
          <p:cNvPr id="15" name="TextBox 14"/>
          <p:cNvSpPr txBox="1"/>
          <p:nvPr/>
        </p:nvSpPr>
        <p:spPr>
          <a:xfrm>
            <a:off x="4937759" y="3749039"/>
            <a:ext cx="2560320" cy="320040"/>
          </a:xfrm>
          <a:prstGeom prst="rect">
            <a:avLst/>
          </a:prstGeom>
          <a:noFill/>
        </p:spPr>
        <p:txBody>
          <a:bodyPr wrap="square">
            <a:spAutoFit/>
          </a:bodyPr>
          <a:lstStyle/>
          <a:p>
            <a:pPr algn="l">
              <a:defRPr sz="1200" b="0" i="0">
                <a:solidFill>
                  <a:srgbClr val="B8B4AE"/>
                </a:solidFill>
                <a:latin typeface="Inter"/>
              </a:defRPr>
            </a:pPr>
            <a:r>
              <a:t>→  A/B-Tests: Hooks</a:t>
            </a:r>
          </a:p>
        </p:txBody>
      </p:sp>
      <p:sp>
        <p:nvSpPr>
          <p:cNvPr id="16" name="TextBox 15"/>
          <p:cNvSpPr txBox="1"/>
          <p:nvPr/>
        </p:nvSpPr>
        <p:spPr>
          <a:xfrm>
            <a:off x="4937759" y="4206240"/>
            <a:ext cx="2560320" cy="320040"/>
          </a:xfrm>
          <a:prstGeom prst="rect">
            <a:avLst/>
          </a:prstGeom>
          <a:noFill/>
        </p:spPr>
        <p:txBody>
          <a:bodyPr wrap="square">
            <a:spAutoFit/>
          </a:bodyPr>
          <a:lstStyle/>
          <a:p>
            <a:pPr algn="l">
              <a:defRPr sz="1200" b="0" i="0">
                <a:solidFill>
                  <a:srgbClr val="B8B4AE"/>
                </a:solidFill>
                <a:latin typeface="Inter"/>
              </a:defRPr>
            </a:pPr>
            <a:r>
              <a:t>→  A/B-Tests: Landingpages</a:t>
            </a:r>
          </a:p>
        </p:txBody>
      </p:sp>
      <p:sp>
        <p:nvSpPr>
          <p:cNvPr id="17" name="TextBox 16"/>
          <p:cNvSpPr txBox="1"/>
          <p:nvPr/>
        </p:nvSpPr>
        <p:spPr>
          <a:xfrm>
            <a:off x="4937759" y="4663440"/>
            <a:ext cx="2560320" cy="320040"/>
          </a:xfrm>
          <a:prstGeom prst="rect">
            <a:avLst/>
          </a:prstGeom>
          <a:noFill/>
        </p:spPr>
        <p:txBody>
          <a:bodyPr wrap="square">
            <a:spAutoFit/>
          </a:bodyPr>
          <a:lstStyle/>
          <a:p>
            <a:pPr algn="l">
              <a:defRPr sz="1200" b="0" i="0">
                <a:solidFill>
                  <a:srgbClr val="B8B4AE"/>
                </a:solidFill>
                <a:latin typeface="Inter"/>
              </a:defRPr>
            </a:pPr>
            <a:r>
              <a:t>→  Budget-Split isoliert</a:t>
            </a:r>
          </a:p>
        </p:txBody>
      </p:sp>
      <p:sp>
        <p:nvSpPr>
          <p:cNvPr id="18" name="Rectangle 17"/>
          <p:cNvSpPr/>
          <p:nvPr/>
        </p:nvSpPr>
        <p:spPr>
          <a:xfrm>
            <a:off x="8229600" y="2560320"/>
            <a:ext cx="3291840" cy="29260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0" y="2743200"/>
            <a:ext cx="2743200" cy="274320"/>
          </a:xfrm>
          <a:prstGeom prst="rect">
            <a:avLst/>
          </a:prstGeom>
          <a:noFill/>
        </p:spPr>
        <p:txBody>
          <a:bodyPr wrap="square">
            <a:spAutoFit/>
          </a:bodyPr>
          <a:lstStyle/>
          <a:p>
            <a:pPr algn="l">
              <a:defRPr sz="1200" b="1" i="0">
                <a:solidFill>
                  <a:srgbClr val="C8A25A"/>
                </a:solidFill>
                <a:latin typeface="JetBrains Mono"/>
              </a:defRPr>
            </a:pPr>
            <a:r>
              <a:t>SPRINT 3  ·  TAG 17–25</a:t>
            </a:r>
          </a:p>
        </p:txBody>
      </p:sp>
      <p:sp>
        <p:nvSpPr>
          <p:cNvPr id="20" name="TextBox 19"/>
          <p:cNvSpPr txBox="1"/>
          <p:nvPr/>
        </p:nvSpPr>
        <p:spPr>
          <a:xfrm>
            <a:off x="8503920" y="3200400"/>
            <a:ext cx="2743200" cy="365760"/>
          </a:xfrm>
          <a:prstGeom prst="rect">
            <a:avLst/>
          </a:prstGeom>
          <a:noFill/>
        </p:spPr>
        <p:txBody>
          <a:bodyPr wrap="square">
            <a:spAutoFit/>
          </a:bodyPr>
          <a:lstStyle/>
          <a:p>
            <a:pPr algn="l">
              <a:defRPr sz="2000" b="0" i="1">
                <a:solidFill>
                  <a:srgbClr val="F2EFE9"/>
                </a:solidFill>
                <a:latin typeface="Cormorant Garamond"/>
              </a:defRPr>
            </a:pPr>
            <a:r>
              <a:t>Scale</a:t>
            </a:r>
          </a:p>
        </p:txBody>
      </p:sp>
      <p:sp>
        <p:nvSpPr>
          <p:cNvPr id="21" name="TextBox 20"/>
          <p:cNvSpPr txBox="1"/>
          <p:nvPr/>
        </p:nvSpPr>
        <p:spPr>
          <a:xfrm>
            <a:off x="8686800" y="3749039"/>
            <a:ext cx="2560320" cy="320040"/>
          </a:xfrm>
          <a:prstGeom prst="rect">
            <a:avLst/>
          </a:prstGeom>
          <a:noFill/>
        </p:spPr>
        <p:txBody>
          <a:bodyPr wrap="square">
            <a:spAutoFit/>
          </a:bodyPr>
          <a:lstStyle/>
          <a:p>
            <a:pPr algn="l">
              <a:defRPr sz="1200" b="0" i="0">
                <a:solidFill>
                  <a:srgbClr val="B8B4AE"/>
                </a:solidFill>
                <a:latin typeface="Inter"/>
              </a:defRPr>
            </a:pPr>
            <a:r>
              <a:t>→  Gewinner skalieren</a:t>
            </a:r>
          </a:p>
        </p:txBody>
      </p:sp>
      <p:sp>
        <p:nvSpPr>
          <p:cNvPr id="22" name="TextBox 21"/>
          <p:cNvSpPr txBox="1"/>
          <p:nvPr/>
        </p:nvSpPr>
        <p:spPr>
          <a:xfrm>
            <a:off x="8686800" y="4206240"/>
            <a:ext cx="2560320" cy="320040"/>
          </a:xfrm>
          <a:prstGeom prst="rect">
            <a:avLst/>
          </a:prstGeom>
          <a:noFill/>
        </p:spPr>
        <p:txBody>
          <a:bodyPr wrap="square">
            <a:spAutoFit/>
          </a:bodyPr>
          <a:lstStyle/>
          <a:p>
            <a:pPr algn="l">
              <a:defRPr sz="1200" b="0" i="0">
                <a:solidFill>
                  <a:srgbClr val="B8B4AE"/>
                </a:solidFill>
                <a:latin typeface="Inter"/>
              </a:defRPr>
            </a:pPr>
            <a:r>
              <a:t>→  Verlierer archivieren</a:t>
            </a:r>
          </a:p>
        </p:txBody>
      </p:sp>
      <p:sp>
        <p:nvSpPr>
          <p:cNvPr id="23" name="TextBox 22"/>
          <p:cNvSpPr txBox="1"/>
          <p:nvPr/>
        </p:nvSpPr>
        <p:spPr>
          <a:xfrm>
            <a:off x="8686800" y="4663440"/>
            <a:ext cx="2560320" cy="320040"/>
          </a:xfrm>
          <a:prstGeom prst="rect">
            <a:avLst/>
          </a:prstGeom>
          <a:noFill/>
        </p:spPr>
        <p:txBody>
          <a:bodyPr wrap="square">
            <a:spAutoFit/>
          </a:bodyPr>
          <a:lstStyle/>
          <a:p>
            <a:pPr algn="l">
              <a:defRPr sz="1200" b="0" i="0">
                <a:solidFill>
                  <a:srgbClr val="B8B4AE"/>
                </a:solidFill>
                <a:latin typeface="Inter"/>
              </a:defRPr>
            </a:pPr>
            <a:r>
              <a:t>→  +25 % Budget/Tag bei CPL &lt; 12 €</a:t>
            </a:r>
          </a:p>
        </p:txBody>
      </p:sp>
      <p:sp>
        <p:nvSpPr>
          <p:cNvPr id="24" name="TextBox 23"/>
          <p:cNvSpPr txBox="1"/>
          <p:nvPr/>
        </p:nvSpPr>
        <p:spPr>
          <a:xfrm>
            <a:off x="731520" y="5760720"/>
            <a:ext cx="10698480" cy="457200"/>
          </a:xfrm>
          <a:prstGeom prst="rect">
            <a:avLst/>
          </a:prstGeom>
          <a:noFill/>
        </p:spPr>
        <p:txBody>
          <a:bodyPr wrap="square">
            <a:spAutoFit/>
          </a:bodyPr>
          <a:lstStyle/>
          <a:p>
            <a:pPr algn="l">
              <a:defRPr sz="1100" b="0" i="0">
                <a:solidFill>
                  <a:srgbClr val="C8A25A"/>
                </a:solidFill>
                <a:latin typeface="JetBrains Mono"/>
              </a:defRPr>
            </a:pPr>
            <a:r>
              <a:t>RULES:  CTR &lt; 1,5 % nach 3d → Hook tauschen  |  CPL &lt; 12 € → Budget +25 %/Tag  |  ROAS &gt; 3x → Skalierung freigeben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D8D3CB"/>
                </a:solidFill>
                <a:latin typeface="JetBrains Mono"/>
              </a:defRPr>
            </a:pPr>
            <a:r>
              <a:t>SPRECHER: RALPH</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12 · CUSTOMER JOURNEYS</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Zwei Pfade. Ein Ziel: Retainer.</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77440"/>
            <a:ext cx="5029200" cy="365760"/>
          </a:xfrm>
          <a:prstGeom prst="rect">
            <a:avLst/>
          </a:prstGeom>
          <a:noFill/>
        </p:spPr>
        <p:txBody>
          <a:bodyPr wrap="square">
            <a:spAutoFit/>
          </a:bodyPr>
          <a:lstStyle/>
          <a:p>
            <a:pPr algn="l">
              <a:defRPr sz="1200" b="1" i="0">
                <a:solidFill>
                  <a:srgbClr val="C8A25A"/>
                </a:solidFill>
                <a:latin typeface="JetBrains Mono"/>
              </a:defRPr>
            </a:pPr>
            <a:r>
              <a:t>INBOUND-JOURNEY</a:t>
            </a:r>
          </a:p>
        </p:txBody>
      </p:sp>
      <p:sp>
        <p:nvSpPr>
          <p:cNvPr id="7" name="TextBox 6"/>
          <p:cNvSpPr txBox="1"/>
          <p:nvPr/>
        </p:nvSpPr>
        <p:spPr>
          <a:xfrm>
            <a:off x="914400" y="2926080"/>
            <a:ext cx="4572000" cy="320040"/>
          </a:xfrm>
          <a:prstGeom prst="rect">
            <a:avLst/>
          </a:prstGeom>
          <a:noFill/>
        </p:spPr>
        <p:txBody>
          <a:bodyPr wrap="square">
            <a:spAutoFit/>
          </a:bodyPr>
          <a:lstStyle/>
          <a:p>
            <a:pPr algn="l">
              <a:defRPr sz="1300" b="0" i="0">
                <a:solidFill>
                  <a:srgbClr val="B8B4AE"/>
                </a:solidFill>
                <a:latin typeface="Inter"/>
              </a:defRPr>
            </a:pPr>
            <a:r>
              <a:t>01.  Meta-Ad sehen</a:t>
            </a:r>
          </a:p>
        </p:txBody>
      </p:sp>
      <p:sp>
        <p:nvSpPr>
          <p:cNvPr id="8" name="TextBox 7"/>
          <p:cNvSpPr txBox="1"/>
          <p:nvPr/>
        </p:nvSpPr>
        <p:spPr>
          <a:xfrm>
            <a:off x="914400" y="3337560"/>
            <a:ext cx="4572000" cy="320040"/>
          </a:xfrm>
          <a:prstGeom prst="rect">
            <a:avLst/>
          </a:prstGeom>
          <a:noFill/>
        </p:spPr>
        <p:txBody>
          <a:bodyPr wrap="square">
            <a:spAutoFit/>
          </a:bodyPr>
          <a:lstStyle/>
          <a:p>
            <a:pPr algn="l">
              <a:defRPr sz="1300" b="0" i="0">
                <a:solidFill>
                  <a:srgbClr val="B8B4AE"/>
                </a:solidFill>
                <a:latin typeface="Inter"/>
              </a:defRPr>
            </a:pPr>
            <a:r>
              <a:t>02.  mirrou.studio besuchen</a:t>
            </a:r>
          </a:p>
        </p:txBody>
      </p:sp>
      <p:sp>
        <p:nvSpPr>
          <p:cNvPr id="9" name="TextBox 8"/>
          <p:cNvSpPr txBox="1"/>
          <p:nvPr/>
        </p:nvSpPr>
        <p:spPr>
          <a:xfrm>
            <a:off x="914400" y="3749040"/>
            <a:ext cx="4572000" cy="320040"/>
          </a:xfrm>
          <a:prstGeom prst="rect">
            <a:avLst/>
          </a:prstGeom>
          <a:noFill/>
        </p:spPr>
        <p:txBody>
          <a:bodyPr wrap="square">
            <a:spAutoFit/>
          </a:bodyPr>
          <a:lstStyle/>
          <a:p>
            <a:pPr algn="l">
              <a:defRPr sz="1300" b="0" i="0">
                <a:solidFill>
                  <a:srgbClr val="B8B4AE"/>
                </a:solidFill>
                <a:latin typeface="Inter"/>
              </a:defRPr>
            </a:pPr>
            <a:r>
              <a:t>03.  Mission Deck laden</a:t>
            </a:r>
          </a:p>
        </p:txBody>
      </p:sp>
      <p:sp>
        <p:nvSpPr>
          <p:cNvPr id="10" name="TextBox 9"/>
          <p:cNvSpPr txBox="1"/>
          <p:nvPr/>
        </p:nvSpPr>
        <p:spPr>
          <a:xfrm>
            <a:off x="914400" y="4160520"/>
            <a:ext cx="4572000" cy="320040"/>
          </a:xfrm>
          <a:prstGeom prst="rect">
            <a:avLst/>
          </a:prstGeom>
          <a:noFill/>
        </p:spPr>
        <p:txBody>
          <a:bodyPr wrap="square">
            <a:spAutoFit/>
          </a:bodyPr>
          <a:lstStyle/>
          <a:p>
            <a:pPr algn="l">
              <a:defRPr sz="1300" b="0" i="0">
                <a:solidFill>
                  <a:srgbClr val="B8B4AE"/>
                </a:solidFill>
                <a:latin typeface="Inter"/>
              </a:defRPr>
            </a:pPr>
            <a:r>
              <a:t>04.  Strategiegespräch buchen</a:t>
            </a:r>
          </a:p>
        </p:txBody>
      </p:sp>
      <p:sp>
        <p:nvSpPr>
          <p:cNvPr id="11" name="TextBox 10"/>
          <p:cNvSpPr txBox="1"/>
          <p:nvPr/>
        </p:nvSpPr>
        <p:spPr>
          <a:xfrm>
            <a:off x="914400" y="4572000"/>
            <a:ext cx="4572000" cy="320040"/>
          </a:xfrm>
          <a:prstGeom prst="rect">
            <a:avLst/>
          </a:prstGeom>
          <a:noFill/>
        </p:spPr>
        <p:txBody>
          <a:bodyPr wrap="square">
            <a:spAutoFit/>
          </a:bodyPr>
          <a:lstStyle/>
          <a:p>
            <a:pPr algn="l">
              <a:defRPr sz="1300" b="0" i="0">
                <a:solidFill>
                  <a:srgbClr val="B8B4AE"/>
                </a:solidFill>
                <a:latin typeface="Inter"/>
              </a:defRPr>
            </a:pPr>
            <a:r>
              <a:t>05.  Creative-Audit → Abschluss</a:t>
            </a:r>
          </a:p>
        </p:txBody>
      </p:sp>
      <p:sp>
        <p:nvSpPr>
          <p:cNvPr id="12" name="TextBox 11"/>
          <p:cNvSpPr txBox="1"/>
          <p:nvPr/>
        </p:nvSpPr>
        <p:spPr>
          <a:xfrm>
            <a:off x="6400800" y="2377440"/>
            <a:ext cx="5029200" cy="365760"/>
          </a:xfrm>
          <a:prstGeom prst="rect">
            <a:avLst/>
          </a:prstGeom>
          <a:noFill/>
        </p:spPr>
        <p:txBody>
          <a:bodyPr wrap="square">
            <a:spAutoFit/>
          </a:bodyPr>
          <a:lstStyle/>
          <a:p>
            <a:pPr algn="l">
              <a:defRPr sz="1200" b="1" i="0">
                <a:solidFill>
                  <a:srgbClr val="C8A25A"/>
                </a:solidFill>
                <a:latin typeface="JetBrains Mono"/>
              </a:defRPr>
            </a:pPr>
            <a:r>
              <a:t>OUTBOUND-JOURNEY</a:t>
            </a:r>
          </a:p>
        </p:txBody>
      </p:sp>
      <p:sp>
        <p:nvSpPr>
          <p:cNvPr id="13" name="TextBox 12"/>
          <p:cNvSpPr txBox="1"/>
          <p:nvPr/>
        </p:nvSpPr>
        <p:spPr>
          <a:xfrm>
            <a:off x="6583680" y="2926080"/>
            <a:ext cx="5029200" cy="320040"/>
          </a:xfrm>
          <a:prstGeom prst="rect">
            <a:avLst/>
          </a:prstGeom>
          <a:noFill/>
        </p:spPr>
        <p:txBody>
          <a:bodyPr wrap="square">
            <a:spAutoFit/>
          </a:bodyPr>
          <a:lstStyle/>
          <a:p>
            <a:pPr algn="l">
              <a:defRPr sz="1300" b="0" i="0">
                <a:solidFill>
                  <a:srgbClr val="B8B4AE"/>
                </a:solidFill>
                <a:latin typeface="Inter"/>
              </a:defRPr>
            </a:pPr>
            <a:r>
              <a:t>01.  Meta Ad Library recherchieren</a:t>
            </a:r>
          </a:p>
        </p:txBody>
      </p:sp>
      <p:sp>
        <p:nvSpPr>
          <p:cNvPr id="14" name="TextBox 13"/>
          <p:cNvSpPr txBox="1"/>
          <p:nvPr/>
        </p:nvSpPr>
        <p:spPr>
          <a:xfrm>
            <a:off x="6583680" y="3337560"/>
            <a:ext cx="5029200" cy="320040"/>
          </a:xfrm>
          <a:prstGeom prst="rect">
            <a:avLst/>
          </a:prstGeom>
          <a:noFill/>
        </p:spPr>
        <p:txBody>
          <a:bodyPr wrap="square">
            <a:spAutoFit/>
          </a:bodyPr>
          <a:lstStyle/>
          <a:p>
            <a:pPr algn="l">
              <a:defRPr sz="1300" b="0" i="0">
                <a:solidFill>
                  <a:srgbClr val="B8B4AE"/>
                </a:solidFill>
                <a:latin typeface="Inter"/>
              </a:defRPr>
            </a:pPr>
            <a:r>
              <a:t>02.  90s Video-Audit erstellen</a:t>
            </a:r>
          </a:p>
        </p:txBody>
      </p:sp>
      <p:sp>
        <p:nvSpPr>
          <p:cNvPr id="15" name="TextBox 14"/>
          <p:cNvSpPr txBox="1"/>
          <p:nvPr/>
        </p:nvSpPr>
        <p:spPr>
          <a:xfrm>
            <a:off x="6583680" y="3749040"/>
            <a:ext cx="5029200" cy="320040"/>
          </a:xfrm>
          <a:prstGeom prst="rect">
            <a:avLst/>
          </a:prstGeom>
          <a:noFill/>
        </p:spPr>
        <p:txBody>
          <a:bodyPr wrap="square">
            <a:spAutoFit/>
          </a:bodyPr>
          <a:lstStyle/>
          <a:p>
            <a:pPr algn="l">
              <a:defRPr sz="1300" b="0" i="0">
                <a:solidFill>
                  <a:srgbClr val="B8B4AE"/>
                </a:solidFill>
                <a:latin typeface="Inter"/>
              </a:defRPr>
            </a:pPr>
            <a:r>
              <a:t>03.  CMO auf LinkedIn kontaktieren</a:t>
            </a:r>
          </a:p>
        </p:txBody>
      </p:sp>
      <p:sp>
        <p:nvSpPr>
          <p:cNvPr id="16" name="TextBox 15"/>
          <p:cNvSpPr txBox="1"/>
          <p:nvPr/>
        </p:nvSpPr>
        <p:spPr>
          <a:xfrm>
            <a:off x="6583680" y="4160520"/>
            <a:ext cx="5029200" cy="320040"/>
          </a:xfrm>
          <a:prstGeom prst="rect">
            <a:avLst/>
          </a:prstGeom>
          <a:noFill/>
        </p:spPr>
        <p:txBody>
          <a:bodyPr wrap="square">
            <a:spAutoFit/>
          </a:bodyPr>
          <a:lstStyle/>
          <a:p>
            <a:pPr algn="l">
              <a:defRPr sz="1300" b="0" i="0">
                <a:solidFill>
                  <a:srgbClr val="B8B4AE"/>
                </a:solidFill>
                <a:latin typeface="Inter"/>
              </a:defRPr>
            </a:pPr>
            <a:r>
              <a:t>04.  14-Tage-Testpaket anbieten</a:t>
            </a:r>
          </a:p>
        </p:txBody>
      </p:sp>
      <p:sp>
        <p:nvSpPr>
          <p:cNvPr id="17" name="TextBox 16"/>
          <p:cNvSpPr txBox="1"/>
          <p:nvPr/>
        </p:nvSpPr>
        <p:spPr>
          <a:xfrm>
            <a:off x="6583680" y="4572000"/>
            <a:ext cx="5029200" cy="320040"/>
          </a:xfrm>
          <a:prstGeom prst="rect">
            <a:avLst/>
          </a:prstGeom>
          <a:noFill/>
        </p:spPr>
        <p:txBody>
          <a:bodyPr wrap="square">
            <a:spAutoFit/>
          </a:bodyPr>
          <a:lstStyle/>
          <a:p>
            <a:pPr algn="l">
              <a:defRPr sz="1300" b="0" i="0">
                <a:solidFill>
                  <a:srgbClr val="B8B4AE"/>
                </a:solidFill>
                <a:latin typeface="Inter"/>
              </a:defRPr>
            </a:pPr>
            <a:r>
              <a:t>05.  Performance → Retainer-Konversion</a:t>
            </a:r>
          </a:p>
        </p:txBody>
      </p:sp>
      <p:sp>
        <p:nvSpPr>
          <p:cNvPr id="18" name="Rectangle 17"/>
          <p:cNvSpPr/>
          <p:nvPr/>
        </p:nvSpPr>
        <p:spPr>
          <a:xfrm>
            <a:off x="731520" y="5303520"/>
            <a:ext cx="1069848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577840"/>
            <a:ext cx="10698480" cy="457200"/>
          </a:xfrm>
          <a:prstGeom prst="rect">
            <a:avLst/>
          </a:prstGeom>
          <a:noFill/>
        </p:spPr>
        <p:txBody>
          <a:bodyPr wrap="square">
            <a:spAutoFit/>
          </a:bodyPr>
          <a:lstStyle/>
          <a:p>
            <a:pPr algn="l">
              <a:defRPr sz="1100" b="0" i="0">
                <a:solidFill>
                  <a:srgbClr val="6E6B66"/>
                </a:solidFill>
                <a:latin typeface="JetBrains Mono"/>
              </a:defRPr>
            </a:pPr>
            <a:r>
              <a:t>TRIGGER:  Lead-Event in HubSpot → Qualifizierungs-Score → Slack-Alert (&lt; 15 Min. Reaktionszeit)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D8D3CB"/>
                </a:solidFill>
                <a:latin typeface="JetBrains Mono"/>
              </a:defRPr>
            </a:pPr>
            <a:r>
              <a:t>SPRECHER: RALPH</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13 · CRM PIPELINE &amp; LEAD-SCORING</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7 Stufen. Automatische Qualifizierung.</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1371600" cy="10972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651760"/>
            <a:ext cx="1188720" cy="274320"/>
          </a:xfrm>
          <a:prstGeom prst="rect">
            <a:avLst/>
          </a:prstGeom>
          <a:noFill/>
        </p:spPr>
        <p:txBody>
          <a:bodyPr wrap="square">
            <a:spAutoFit/>
          </a:bodyPr>
          <a:lstStyle/>
          <a:p>
            <a:pPr algn="l">
              <a:defRPr sz="1800" b="0" i="0">
                <a:solidFill>
                  <a:srgbClr val="C8A25A"/>
                </a:solidFill>
                <a:latin typeface="Cormorant Garamond"/>
              </a:defRPr>
            </a:pPr>
            <a:r>
              <a:t>01</a:t>
            </a:r>
          </a:p>
        </p:txBody>
      </p:sp>
      <p:sp>
        <p:nvSpPr>
          <p:cNvPr id="8" name="TextBox 7"/>
          <p:cNvSpPr txBox="1"/>
          <p:nvPr/>
        </p:nvSpPr>
        <p:spPr>
          <a:xfrm>
            <a:off x="822960" y="3017520"/>
            <a:ext cx="1188720" cy="457200"/>
          </a:xfrm>
          <a:prstGeom prst="rect">
            <a:avLst/>
          </a:prstGeom>
          <a:noFill/>
        </p:spPr>
        <p:txBody>
          <a:bodyPr wrap="square">
            <a:spAutoFit/>
          </a:bodyPr>
          <a:lstStyle/>
          <a:p>
            <a:pPr algn="l">
              <a:defRPr sz="1000" b="0" i="0">
                <a:solidFill>
                  <a:srgbClr val="F2EFE9"/>
                </a:solidFill>
                <a:latin typeface="Inter"/>
              </a:defRPr>
            </a:pPr>
            <a:r>
              <a:t>Inbound Lead</a:t>
            </a:r>
          </a:p>
        </p:txBody>
      </p:sp>
      <p:sp>
        <p:nvSpPr>
          <p:cNvPr id="9" name="Rectangle 8"/>
          <p:cNvSpPr/>
          <p:nvPr/>
        </p:nvSpPr>
        <p:spPr>
          <a:xfrm>
            <a:off x="2304288" y="2560320"/>
            <a:ext cx="1371600" cy="10972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95728" y="2651760"/>
            <a:ext cx="1188720" cy="274320"/>
          </a:xfrm>
          <a:prstGeom prst="rect">
            <a:avLst/>
          </a:prstGeom>
          <a:noFill/>
        </p:spPr>
        <p:txBody>
          <a:bodyPr wrap="square">
            <a:spAutoFit/>
          </a:bodyPr>
          <a:lstStyle/>
          <a:p>
            <a:pPr algn="l">
              <a:defRPr sz="1800" b="0" i="0">
                <a:solidFill>
                  <a:srgbClr val="C8A25A"/>
                </a:solidFill>
                <a:latin typeface="Cormorant Garamond"/>
              </a:defRPr>
            </a:pPr>
            <a:r>
              <a:t>02</a:t>
            </a:r>
          </a:p>
        </p:txBody>
      </p:sp>
      <p:sp>
        <p:nvSpPr>
          <p:cNvPr id="11" name="TextBox 10"/>
          <p:cNvSpPr txBox="1"/>
          <p:nvPr/>
        </p:nvSpPr>
        <p:spPr>
          <a:xfrm>
            <a:off x="2395728" y="3017520"/>
            <a:ext cx="1188720" cy="457200"/>
          </a:xfrm>
          <a:prstGeom prst="rect">
            <a:avLst/>
          </a:prstGeom>
          <a:noFill/>
        </p:spPr>
        <p:txBody>
          <a:bodyPr wrap="square">
            <a:spAutoFit/>
          </a:bodyPr>
          <a:lstStyle/>
          <a:p>
            <a:pPr algn="l">
              <a:defRPr sz="1000" b="0" i="0">
                <a:solidFill>
                  <a:srgbClr val="F2EFE9"/>
                </a:solidFill>
                <a:latin typeface="Inter"/>
              </a:defRPr>
            </a:pPr>
            <a:r>
              <a:t>Intro Call</a:t>
            </a:r>
          </a:p>
        </p:txBody>
      </p:sp>
      <p:sp>
        <p:nvSpPr>
          <p:cNvPr id="12" name="Rectangle 11"/>
          <p:cNvSpPr/>
          <p:nvPr/>
        </p:nvSpPr>
        <p:spPr>
          <a:xfrm>
            <a:off x="3877056" y="2560320"/>
            <a:ext cx="1371600" cy="10972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8496" y="2651760"/>
            <a:ext cx="1188720" cy="274320"/>
          </a:xfrm>
          <a:prstGeom prst="rect">
            <a:avLst/>
          </a:prstGeom>
          <a:noFill/>
        </p:spPr>
        <p:txBody>
          <a:bodyPr wrap="square">
            <a:spAutoFit/>
          </a:bodyPr>
          <a:lstStyle/>
          <a:p>
            <a:pPr algn="l">
              <a:defRPr sz="1800" b="0" i="0">
                <a:solidFill>
                  <a:srgbClr val="C8A25A"/>
                </a:solidFill>
                <a:latin typeface="Cormorant Garamond"/>
              </a:defRPr>
            </a:pPr>
            <a:r>
              <a:t>03</a:t>
            </a:r>
          </a:p>
        </p:txBody>
      </p:sp>
      <p:sp>
        <p:nvSpPr>
          <p:cNvPr id="14" name="TextBox 13"/>
          <p:cNvSpPr txBox="1"/>
          <p:nvPr/>
        </p:nvSpPr>
        <p:spPr>
          <a:xfrm>
            <a:off x="3968496" y="3017520"/>
            <a:ext cx="1188720" cy="457200"/>
          </a:xfrm>
          <a:prstGeom prst="rect">
            <a:avLst/>
          </a:prstGeom>
          <a:noFill/>
        </p:spPr>
        <p:txBody>
          <a:bodyPr wrap="square">
            <a:spAutoFit/>
          </a:bodyPr>
          <a:lstStyle/>
          <a:p>
            <a:pPr algn="l">
              <a:defRPr sz="1000" b="0" i="0">
                <a:solidFill>
                  <a:srgbClr val="F2EFE9"/>
                </a:solidFill>
                <a:latin typeface="Inter"/>
              </a:defRPr>
            </a:pPr>
            <a:r>
              <a:t>Creative Audit</a:t>
            </a:r>
          </a:p>
        </p:txBody>
      </p:sp>
      <p:sp>
        <p:nvSpPr>
          <p:cNvPr id="15" name="Rectangle 14"/>
          <p:cNvSpPr/>
          <p:nvPr/>
        </p:nvSpPr>
        <p:spPr>
          <a:xfrm>
            <a:off x="5449824" y="2560320"/>
            <a:ext cx="1371600" cy="10972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1264" y="2651760"/>
            <a:ext cx="1188720" cy="274320"/>
          </a:xfrm>
          <a:prstGeom prst="rect">
            <a:avLst/>
          </a:prstGeom>
          <a:noFill/>
        </p:spPr>
        <p:txBody>
          <a:bodyPr wrap="square">
            <a:spAutoFit/>
          </a:bodyPr>
          <a:lstStyle/>
          <a:p>
            <a:pPr algn="l">
              <a:defRPr sz="1800" b="0" i="0">
                <a:solidFill>
                  <a:srgbClr val="C8A25A"/>
                </a:solidFill>
                <a:latin typeface="Cormorant Garamond"/>
              </a:defRPr>
            </a:pPr>
            <a:r>
              <a:t>04</a:t>
            </a:r>
          </a:p>
        </p:txBody>
      </p:sp>
      <p:sp>
        <p:nvSpPr>
          <p:cNvPr id="17" name="TextBox 16"/>
          <p:cNvSpPr txBox="1"/>
          <p:nvPr/>
        </p:nvSpPr>
        <p:spPr>
          <a:xfrm>
            <a:off x="5541264" y="3017520"/>
            <a:ext cx="1188720" cy="457200"/>
          </a:xfrm>
          <a:prstGeom prst="rect">
            <a:avLst/>
          </a:prstGeom>
          <a:noFill/>
        </p:spPr>
        <p:txBody>
          <a:bodyPr wrap="square">
            <a:spAutoFit/>
          </a:bodyPr>
          <a:lstStyle/>
          <a:p>
            <a:pPr algn="l">
              <a:defRPr sz="1000" b="0" i="0">
                <a:solidFill>
                  <a:srgbClr val="F2EFE9"/>
                </a:solidFill>
                <a:latin typeface="Inter"/>
              </a:defRPr>
            </a:pPr>
            <a:r>
              <a:t>Angebot</a:t>
            </a:r>
          </a:p>
        </p:txBody>
      </p:sp>
      <p:sp>
        <p:nvSpPr>
          <p:cNvPr id="18" name="Rectangle 17"/>
          <p:cNvSpPr/>
          <p:nvPr/>
        </p:nvSpPr>
        <p:spPr>
          <a:xfrm>
            <a:off x="7022592" y="2560320"/>
            <a:ext cx="1371600" cy="109728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14032" y="2651760"/>
            <a:ext cx="1188720" cy="274320"/>
          </a:xfrm>
          <a:prstGeom prst="rect">
            <a:avLst/>
          </a:prstGeom>
          <a:noFill/>
        </p:spPr>
        <p:txBody>
          <a:bodyPr wrap="square">
            <a:spAutoFit/>
          </a:bodyPr>
          <a:lstStyle/>
          <a:p>
            <a:pPr algn="l">
              <a:defRPr sz="1800" b="0" i="0">
                <a:solidFill>
                  <a:srgbClr val="C8A25A"/>
                </a:solidFill>
                <a:latin typeface="Cormorant Garamond"/>
              </a:defRPr>
            </a:pPr>
            <a:r>
              <a:t>05</a:t>
            </a:r>
          </a:p>
        </p:txBody>
      </p:sp>
      <p:sp>
        <p:nvSpPr>
          <p:cNvPr id="20" name="TextBox 19"/>
          <p:cNvSpPr txBox="1"/>
          <p:nvPr/>
        </p:nvSpPr>
        <p:spPr>
          <a:xfrm>
            <a:off x="7114032" y="3017520"/>
            <a:ext cx="1188720" cy="457200"/>
          </a:xfrm>
          <a:prstGeom prst="rect">
            <a:avLst/>
          </a:prstGeom>
          <a:noFill/>
        </p:spPr>
        <p:txBody>
          <a:bodyPr wrap="square">
            <a:spAutoFit/>
          </a:bodyPr>
          <a:lstStyle/>
          <a:p>
            <a:pPr algn="l">
              <a:defRPr sz="1000" b="0" i="0">
                <a:solidFill>
                  <a:srgbClr val="F2EFE9"/>
                </a:solidFill>
                <a:latin typeface="Inter"/>
              </a:defRPr>
            </a:pPr>
            <a:r>
              <a:t>Verhandlung</a:t>
            </a:r>
          </a:p>
        </p:txBody>
      </p:sp>
      <p:sp>
        <p:nvSpPr>
          <p:cNvPr id="21" name="Rectangle 20"/>
          <p:cNvSpPr/>
          <p:nvPr/>
        </p:nvSpPr>
        <p:spPr>
          <a:xfrm>
            <a:off x="8595360" y="2560320"/>
            <a:ext cx="1371600" cy="1097280"/>
          </a:xfrm>
          <a:prstGeom prst="rect">
            <a:avLst/>
          </a:prstGeom>
          <a:solidFill>
            <a:srgbClr val="1A2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2651760"/>
            <a:ext cx="1188720" cy="274320"/>
          </a:xfrm>
          <a:prstGeom prst="rect">
            <a:avLst/>
          </a:prstGeom>
          <a:noFill/>
        </p:spPr>
        <p:txBody>
          <a:bodyPr wrap="square">
            <a:spAutoFit/>
          </a:bodyPr>
          <a:lstStyle/>
          <a:p>
            <a:pPr algn="l">
              <a:defRPr sz="1800" b="0" i="0">
                <a:solidFill>
                  <a:srgbClr val="C8A25A"/>
                </a:solidFill>
                <a:latin typeface="Cormorant Garamond"/>
              </a:defRPr>
            </a:pPr>
            <a:r>
              <a:t>06</a:t>
            </a:r>
          </a:p>
        </p:txBody>
      </p:sp>
      <p:sp>
        <p:nvSpPr>
          <p:cNvPr id="23" name="TextBox 22"/>
          <p:cNvSpPr txBox="1"/>
          <p:nvPr/>
        </p:nvSpPr>
        <p:spPr>
          <a:xfrm>
            <a:off x="8686800" y="3017520"/>
            <a:ext cx="1188720" cy="457200"/>
          </a:xfrm>
          <a:prstGeom prst="rect">
            <a:avLst/>
          </a:prstGeom>
          <a:noFill/>
        </p:spPr>
        <p:txBody>
          <a:bodyPr wrap="square">
            <a:spAutoFit/>
          </a:bodyPr>
          <a:lstStyle/>
          <a:p>
            <a:pPr algn="l">
              <a:defRPr sz="1000" b="0" i="0">
                <a:solidFill>
                  <a:srgbClr val="F2EFE9"/>
                </a:solidFill>
                <a:latin typeface="Inter"/>
              </a:defRPr>
            </a:pPr>
            <a:r>
              <a:t>Closed Won</a:t>
            </a:r>
          </a:p>
        </p:txBody>
      </p:sp>
      <p:sp>
        <p:nvSpPr>
          <p:cNvPr id="24" name="Rectangle 23"/>
          <p:cNvSpPr/>
          <p:nvPr/>
        </p:nvSpPr>
        <p:spPr>
          <a:xfrm>
            <a:off x="10168128" y="2560320"/>
            <a:ext cx="1371600" cy="1097280"/>
          </a:xfrm>
          <a:prstGeom prst="rect">
            <a:avLst/>
          </a:prstGeom>
          <a:solidFill>
            <a:srgbClr val="1A2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59568" y="2651760"/>
            <a:ext cx="1188720" cy="274320"/>
          </a:xfrm>
          <a:prstGeom prst="rect">
            <a:avLst/>
          </a:prstGeom>
          <a:noFill/>
        </p:spPr>
        <p:txBody>
          <a:bodyPr wrap="square">
            <a:spAutoFit/>
          </a:bodyPr>
          <a:lstStyle/>
          <a:p>
            <a:pPr algn="l">
              <a:defRPr sz="1800" b="0" i="0">
                <a:solidFill>
                  <a:srgbClr val="C8A25A"/>
                </a:solidFill>
                <a:latin typeface="Cormorant Garamond"/>
              </a:defRPr>
            </a:pPr>
            <a:r>
              <a:t>07</a:t>
            </a:r>
          </a:p>
        </p:txBody>
      </p:sp>
      <p:sp>
        <p:nvSpPr>
          <p:cNvPr id="26" name="TextBox 25"/>
          <p:cNvSpPr txBox="1"/>
          <p:nvPr/>
        </p:nvSpPr>
        <p:spPr>
          <a:xfrm>
            <a:off x="10259568" y="3017520"/>
            <a:ext cx="1188720" cy="457200"/>
          </a:xfrm>
          <a:prstGeom prst="rect">
            <a:avLst/>
          </a:prstGeom>
          <a:noFill/>
        </p:spPr>
        <p:txBody>
          <a:bodyPr wrap="square">
            <a:spAutoFit/>
          </a:bodyPr>
          <a:lstStyle/>
          <a:p>
            <a:pPr algn="l">
              <a:defRPr sz="1000" b="0" i="0">
                <a:solidFill>
                  <a:srgbClr val="F2EFE9"/>
                </a:solidFill>
                <a:latin typeface="Inter"/>
              </a:defRPr>
            </a:pPr>
            <a:r>
              <a:t>Onboarding</a:t>
            </a:r>
          </a:p>
        </p:txBody>
      </p:sp>
      <p:sp>
        <p:nvSpPr>
          <p:cNvPr id="27" name="TextBox 26"/>
          <p:cNvSpPr txBox="1"/>
          <p:nvPr/>
        </p:nvSpPr>
        <p:spPr>
          <a:xfrm>
            <a:off x="731520" y="4114800"/>
            <a:ext cx="4572000" cy="365760"/>
          </a:xfrm>
          <a:prstGeom prst="rect">
            <a:avLst/>
          </a:prstGeom>
          <a:noFill/>
        </p:spPr>
        <p:txBody>
          <a:bodyPr wrap="square">
            <a:spAutoFit/>
          </a:bodyPr>
          <a:lstStyle/>
          <a:p>
            <a:pPr algn="l">
              <a:defRPr sz="1200" b="1" i="0">
                <a:solidFill>
                  <a:srgbClr val="C8A25A"/>
                </a:solidFill>
                <a:latin typeface="JetBrains Mono"/>
              </a:defRPr>
            </a:pPr>
            <a:r>
              <a:t>QUALIFIZIERUNGS-SCORE</a:t>
            </a:r>
          </a:p>
        </p:txBody>
      </p:sp>
      <p:sp>
        <p:nvSpPr>
          <p:cNvPr id="28" name="TextBox 27"/>
          <p:cNvSpPr txBox="1"/>
          <p:nvPr/>
        </p:nvSpPr>
        <p:spPr>
          <a:xfrm>
            <a:off x="731520" y="4572000"/>
            <a:ext cx="10058400" cy="1828800"/>
          </a:xfrm>
          <a:prstGeom prst="rect">
            <a:avLst/>
          </a:prstGeom>
          <a:noFill/>
        </p:spPr>
        <p:txBody>
          <a:bodyPr wrap="square">
            <a:spAutoFit/>
          </a:bodyPr>
          <a:lstStyle/>
          <a:p>
            <a:pPr>
              <a:spcAft>
                <a:spcPts val="400"/>
              </a:spcAft>
              <a:defRPr sz="1300" b="0">
                <a:solidFill>
                  <a:srgbClr val="B8B4AE"/>
                </a:solidFill>
                <a:latin typeface="Inter"/>
              </a:defRPr>
            </a:pPr>
            <a:r>
              <a:t>Ad-Spend &gt; 20 k€/Monat = +3 Punkte  ·  Beauty/Health-Branche = +2 Punkte  ·  CM erreichbar = +2 Punkte</a:t>
            </a:r>
          </a:p>
          <a:p>
            <a:pPr>
              <a:spcAft>
                <a:spcPts val="400"/>
              </a:spcAft>
              <a:defRPr sz="600" b="0">
                <a:solidFill>
                  <a:srgbClr val="F2EFE9"/>
                </a:solidFill>
                <a:latin typeface="Inter"/>
              </a:defRPr>
            </a:pPr>
          </a:p>
          <a:p>
            <a:pPr>
              <a:spcAft>
                <a:spcPts val="400"/>
              </a:spcAft>
              <a:defRPr sz="1400" b="1">
                <a:solidFill>
                  <a:srgbClr val="F2EFE9"/>
                </a:solidFill>
                <a:latin typeface="Inter"/>
              </a:defRPr>
            </a:pPr>
            <a:r>
              <a:t>Score ≥ 8  →  Sofort Slack-Alarm → Yahya antwortet in &lt; 15 Minuten</a:t>
            </a:r>
          </a:p>
          <a:p>
            <a:pPr>
              <a:spcAft>
                <a:spcPts val="400"/>
              </a:spcAft>
              <a:defRPr sz="1300" b="0">
                <a:solidFill>
                  <a:srgbClr val="6E6B66"/>
                </a:solidFill>
                <a:latin typeface="Inter"/>
              </a:defRPr>
            </a:pPr>
            <a:r>
              <a:t>Score &lt; 8  →  Automatische Boutique-Segment-Zuweisung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D8D3CB"/>
                </a:solidFill>
                <a:latin typeface="JetBrains Mono"/>
              </a:defRPr>
            </a:pPr>
            <a:r>
              <a:t>SPRECHER: RALPH</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14 · SOPs &amp; BETRIEBSSYSTEM</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Qualität entsteht durch Wiederholbarkeit.</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560320"/>
            <a:ext cx="10698480" cy="10058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97480"/>
            <a:ext cx="1371600" cy="274320"/>
          </a:xfrm>
          <a:prstGeom prst="rect">
            <a:avLst/>
          </a:prstGeom>
          <a:noFill/>
        </p:spPr>
        <p:txBody>
          <a:bodyPr wrap="square">
            <a:spAutoFit/>
          </a:bodyPr>
          <a:lstStyle/>
          <a:p>
            <a:pPr algn="l">
              <a:defRPr sz="1800" b="1" i="0">
                <a:solidFill>
                  <a:srgbClr val="C8A25A"/>
                </a:solidFill>
                <a:latin typeface="Cormorant Garamond"/>
              </a:defRPr>
            </a:pPr>
            <a:r>
              <a:t>SOP 01</a:t>
            </a:r>
          </a:p>
        </p:txBody>
      </p:sp>
      <p:sp>
        <p:nvSpPr>
          <p:cNvPr id="8" name="TextBox 7"/>
          <p:cNvSpPr txBox="1"/>
          <p:nvPr/>
        </p:nvSpPr>
        <p:spPr>
          <a:xfrm>
            <a:off x="2743200" y="2651760"/>
            <a:ext cx="2743200" cy="274320"/>
          </a:xfrm>
          <a:prstGeom prst="rect">
            <a:avLst/>
          </a:prstGeom>
          <a:noFill/>
        </p:spPr>
        <p:txBody>
          <a:bodyPr wrap="square">
            <a:spAutoFit/>
          </a:bodyPr>
          <a:lstStyle/>
          <a:p>
            <a:pPr algn="l">
              <a:defRPr sz="1200" b="1" i="0">
                <a:solidFill>
                  <a:srgbClr val="F2EFE9"/>
                </a:solidFill>
                <a:latin typeface="JetBrains Mono"/>
              </a:defRPr>
            </a:pPr>
            <a:r>
              <a:t>LEAD-HANDLING</a:t>
            </a:r>
          </a:p>
        </p:txBody>
      </p:sp>
      <p:sp>
        <p:nvSpPr>
          <p:cNvPr id="9" name="TextBox 8"/>
          <p:cNvSpPr txBox="1"/>
          <p:nvPr/>
        </p:nvSpPr>
        <p:spPr>
          <a:xfrm>
            <a:off x="2743200" y="3017520"/>
            <a:ext cx="8229600" cy="365760"/>
          </a:xfrm>
          <a:prstGeom prst="rect">
            <a:avLst/>
          </a:prstGeom>
          <a:noFill/>
        </p:spPr>
        <p:txBody>
          <a:bodyPr wrap="square">
            <a:spAutoFit/>
          </a:bodyPr>
          <a:lstStyle/>
          <a:p>
            <a:pPr algn="l">
              <a:defRPr sz="1200" b="0" i="0">
                <a:solidFill>
                  <a:srgbClr val="B8B4AE"/>
                </a:solidFill>
                <a:latin typeface="Inter"/>
              </a:defRPr>
            </a:pPr>
            <a:r>
              <a:t>Qualifizierung → Scoring → Zuweisung → Reaktion &lt; 15 Min</a:t>
            </a:r>
          </a:p>
        </p:txBody>
      </p:sp>
      <p:sp>
        <p:nvSpPr>
          <p:cNvPr id="10" name="Rectangle 9"/>
          <p:cNvSpPr/>
          <p:nvPr/>
        </p:nvSpPr>
        <p:spPr>
          <a:xfrm>
            <a:off x="731520" y="3749039"/>
            <a:ext cx="10698480" cy="10058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86199"/>
            <a:ext cx="1371600" cy="274320"/>
          </a:xfrm>
          <a:prstGeom prst="rect">
            <a:avLst/>
          </a:prstGeom>
          <a:noFill/>
        </p:spPr>
        <p:txBody>
          <a:bodyPr wrap="square">
            <a:spAutoFit/>
          </a:bodyPr>
          <a:lstStyle/>
          <a:p>
            <a:pPr algn="l">
              <a:defRPr sz="1800" b="1" i="0">
                <a:solidFill>
                  <a:srgbClr val="C8A25A"/>
                </a:solidFill>
                <a:latin typeface="Cormorant Garamond"/>
              </a:defRPr>
            </a:pPr>
            <a:r>
              <a:t>SOP 02</a:t>
            </a:r>
          </a:p>
        </p:txBody>
      </p:sp>
      <p:sp>
        <p:nvSpPr>
          <p:cNvPr id="12" name="TextBox 11"/>
          <p:cNvSpPr txBox="1"/>
          <p:nvPr/>
        </p:nvSpPr>
        <p:spPr>
          <a:xfrm>
            <a:off x="2743200" y="3840479"/>
            <a:ext cx="2743200" cy="274320"/>
          </a:xfrm>
          <a:prstGeom prst="rect">
            <a:avLst/>
          </a:prstGeom>
          <a:noFill/>
        </p:spPr>
        <p:txBody>
          <a:bodyPr wrap="square">
            <a:spAutoFit/>
          </a:bodyPr>
          <a:lstStyle/>
          <a:p>
            <a:pPr algn="l">
              <a:defRPr sz="1200" b="1" i="0">
                <a:solidFill>
                  <a:srgbClr val="F2EFE9"/>
                </a:solidFill>
                <a:latin typeface="JetBrains Mono"/>
              </a:defRPr>
            </a:pPr>
            <a:r>
              <a:t>KUNDEN-ONBOARDING</a:t>
            </a:r>
          </a:p>
        </p:txBody>
      </p:sp>
      <p:sp>
        <p:nvSpPr>
          <p:cNvPr id="13" name="TextBox 12"/>
          <p:cNvSpPr txBox="1"/>
          <p:nvPr/>
        </p:nvSpPr>
        <p:spPr>
          <a:xfrm>
            <a:off x="2743200" y="4206239"/>
            <a:ext cx="8229600" cy="365760"/>
          </a:xfrm>
          <a:prstGeom prst="rect">
            <a:avLst/>
          </a:prstGeom>
          <a:noFill/>
        </p:spPr>
        <p:txBody>
          <a:bodyPr wrap="square">
            <a:spAutoFit/>
          </a:bodyPr>
          <a:lstStyle/>
          <a:p>
            <a:pPr algn="l">
              <a:defRPr sz="1200" b="0" i="0">
                <a:solidFill>
                  <a:srgbClr val="B8B4AE"/>
                </a:solidFill>
                <a:latin typeface="Inter"/>
              </a:defRPr>
            </a:pPr>
            <a:r>
              <a:t>Kick-off → Briefing → Space Setup → Approval-Flow</a:t>
            </a:r>
          </a:p>
        </p:txBody>
      </p:sp>
      <p:sp>
        <p:nvSpPr>
          <p:cNvPr id="14" name="Rectangle 13"/>
          <p:cNvSpPr/>
          <p:nvPr/>
        </p:nvSpPr>
        <p:spPr>
          <a:xfrm>
            <a:off x="731520" y="4937760"/>
            <a:ext cx="10698480" cy="1005840"/>
          </a:xfrm>
          <a:prstGeom prst="rect">
            <a:avLst/>
          </a:prstGeom>
          <a:solidFill>
            <a:srgbClr val="1111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074920"/>
            <a:ext cx="1371600" cy="274320"/>
          </a:xfrm>
          <a:prstGeom prst="rect">
            <a:avLst/>
          </a:prstGeom>
          <a:noFill/>
        </p:spPr>
        <p:txBody>
          <a:bodyPr wrap="square">
            <a:spAutoFit/>
          </a:bodyPr>
          <a:lstStyle/>
          <a:p>
            <a:pPr algn="l">
              <a:defRPr sz="1800" b="1" i="0">
                <a:solidFill>
                  <a:srgbClr val="C8A25A"/>
                </a:solidFill>
                <a:latin typeface="Cormorant Garamond"/>
              </a:defRPr>
            </a:pPr>
            <a:r>
              <a:t>SOP 03</a:t>
            </a:r>
          </a:p>
        </p:txBody>
      </p:sp>
      <p:sp>
        <p:nvSpPr>
          <p:cNvPr id="16" name="TextBox 15"/>
          <p:cNvSpPr txBox="1"/>
          <p:nvPr/>
        </p:nvSpPr>
        <p:spPr>
          <a:xfrm>
            <a:off x="2743200" y="5029200"/>
            <a:ext cx="2743200" cy="274320"/>
          </a:xfrm>
          <a:prstGeom prst="rect">
            <a:avLst/>
          </a:prstGeom>
          <a:noFill/>
        </p:spPr>
        <p:txBody>
          <a:bodyPr wrap="square">
            <a:spAutoFit/>
          </a:bodyPr>
          <a:lstStyle/>
          <a:p>
            <a:pPr algn="l">
              <a:defRPr sz="1200" b="1" i="0">
                <a:solidFill>
                  <a:srgbClr val="F2EFE9"/>
                </a:solidFill>
                <a:latin typeface="JetBrains Mono"/>
              </a:defRPr>
            </a:pPr>
            <a:r>
              <a:t>CASE-STUDY-ERSTELLUNG</a:t>
            </a:r>
          </a:p>
        </p:txBody>
      </p:sp>
      <p:sp>
        <p:nvSpPr>
          <p:cNvPr id="17" name="TextBox 16"/>
          <p:cNvSpPr txBox="1"/>
          <p:nvPr/>
        </p:nvSpPr>
        <p:spPr>
          <a:xfrm>
            <a:off x="2743200" y="5394960"/>
            <a:ext cx="8229600" cy="365760"/>
          </a:xfrm>
          <a:prstGeom prst="rect">
            <a:avLst/>
          </a:prstGeom>
          <a:noFill/>
        </p:spPr>
        <p:txBody>
          <a:bodyPr wrap="square">
            <a:spAutoFit/>
          </a:bodyPr>
          <a:lstStyle/>
          <a:p>
            <a:pPr algn="l">
              <a:defRPr sz="1200" b="0" i="0">
                <a:solidFill>
                  <a:srgbClr val="B8B4AE"/>
                </a:solidFill>
                <a:latin typeface="Inter"/>
              </a:defRPr>
            </a:pPr>
            <a:r>
              <a:t>Data Pull → Visual Select → Copy → Approval → Publish</a:t>
            </a:r>
          </a:p>
        </p:txBody>
      </p:sp>
      <p:sp>
        <p:nvSpPr>
          <p:cNvPr id="18" name="TextBox 17"/>
          <p:cNvSpPr txBox="1"/>
          <p:nvPr/>
        </p:nvSpPr>
        <p:spPr>
          <a:xfrm>
            <a:off x="731520" y="5760720"/>
            <a:ext cx="10698480" cy="457200"/>
          </a:xfrm>
          <a:prstGeom prst="rect">
            <a:avLst/>
          </a:prstGeom>
          <a:noFill/>
        </p:spPr>
        <p:txBody>
          <a:bodyPr wrap="square">
            <a:spAutoFit/>
          </a:bodyPr>
          <a:lstStyle/>
          <a:p>
            <a:pPr algn="l">
              <a:defRPr sz="1100" b="0" i="0">
                <a:solidFill>
                  <a:srgbClr val="6E6B66"/>
                </a:solidFill>
                <a:latin typeface="JetBrains Mono"/>
              </a:defRPr>
            </a:pPr>
            <a:r>
              <a:t>ORDNER:  Growth  ·  Production  ·  Operations  ·  Client Records  |  NAMING:  [DATE]_[BRAND]_[PROJECT]_[VERSION]_[INITIALS]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0808"/>
        </a:solidFill>
        <a:effectLst/>
      </p:bgPr>
    </p:bg>
    <p:spTree>
      <p:nvGrpSpPr>
        <p:cNvPr id="1" name=""/>
        <p:cNvGrpSpPr/>
        <p:nvPr/>
      </p:nvGrpSpPr>
      <p:grpSpPr/>
      <p:sp>
        <p:nvSpPr>
          <p:cNvPr id="2" name="TextBox 1"/>
          <p:cNvSpPr txBox="1"/>
          <p:nvPr/>
        </p:nvSpPr>
        <p:spPr>
          <a:xfrm>
            <a:off x="9601200" y="457200"/>
            <a:ext cx="2286000" cy="365760"/>
          </a:xfrm>
          <a:prstGeom prst="rect">
            <a:avLst/>
          </a:prstGeom>
          <a:noFill/>
        </p:spPr>
        <p:txBody>
          <a:bodyPr wrap="square">
            <a:spAutoFit/>
          </a:bodyPr>
          <a:lstStyle/>
          <a:p>
            <a:pPr algn="r">
              <a:defRPr sz="1000" b="1" i="0">
                <a:solidFill>
                  <a:srgbClr val="C8A25A"/>
                </a:solidFill>
                <a:latin typeface="JetBrains Mono"/>
              </a:defRPr>
            </a:pPr>
            <a:r>
              <a:t>SPRECHER: YAHYA</a:t>
            </a:r>
          </a:p>
        </p:txBody>
      </p:sp>
      <p:sp>
        <p:nvSpPr>
          <p:cNvPr id="3" name="TextBox 2"/>
          <p:cNvSpPr txBox="1"/>
          <p:nvPr/>
        </p:nvSpPr>
        <p:spPr>
          <a:xfrm>
            <a:off x="731520" y="457200"/>
            <a:ext cx="7315200" cy="365760"/>
          </a:xfrm>
          <a:prstGeom prst="rect">
            <a:avLst/>
          </a:prstGeom>
          <a:noFill/>
        </p:spPr>
        <p:txBody>
          <a:bodyPr wrap="square">
            <a:spAutoFit/>
          </a:bodyPr>
          <a:lstStyle/>
          <a:p>
            <a:pPr algn="l">
              <a:defRPr sz="1100" b="0" i="0">
                <a:solidFill>
                  <a:srgbClr val="C8A25A"/>
                </a:solidFill>
                <a:latin typeface="JetBrains Mono"/>
              </a:defRPr>
            </a:pPr>
            <a:r>
              <a:t>15 · TECH STACK &amp; EU AI ACT COMPLIANCE</a:t>
            </a:r>
          </a:p>
        </p:txBody>
      </p:sp>
      <p:sp>
        <p:nvSpPr>
          <p:cNvPr id="4" name="TextBox 3"/>
          <p:cNvSpPr txBox="1"/>
          <p:nvPr/>
        </p:nvSpPr>
        <p:spPr>
          <a:xfrm>
            <a:off x="731520" y="1097280"/>
            <a:ext cx="10058400" cy="731520"/>
          </a:xfrm>
          <a:prstGeom prst="rect">
            <a:avLst/>
          </a:prstGeom>
          <a:noFill/>
        </p:spPr>
        <p:txBody>
          <a:bodyPr wrap="square">
            <a:spAutoFit/>
          </a:bodyPr>
          <a:lstStyle/>
          <a:p>
            <a:pPr algn="l">
              <a:defRPr sz="3600" b="0" i="1">
                <a:solidFill>
                  <a:srgbClr val="F2EFE9"/>
                </a:solidFill>
                <a:latin typeface="Cormorant Garamond"/>
              </a:defRPr>
            </a:pPr>
            <a:r>
              <a:t>Mirrou ist live. Mirrou ist compliant.</a:t>
            </a:r>
          </a:p>
        </p:txBody>
      </p:sp>
      <p:sp>
        <p:nvSpPr>
          <p:cNvPr id="5" name="Rectangle 4"/>
          <p:cNvSpPr/>
          <p:nvPr/>
        </p:nvSpPr>
        <p:spPr>
          <a:xfrm>
            <a:off x="731520" y="2011680"/>
            <a:ext cx="274320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77440"/>
            <a:ext cx="5029200" cy="365760"/>
          </a:xfrm>
          <a:prstGeom prst="rect">
            <a:avLst/>
          </a:prstGeom>
          <a:noFill/>
        </p:spPr>
        <p:txBody>
          <a:bodyPr wrap="square">
            <a:spAutoFit/>
          </a:bodyPr>
          <a:lstStyle/>
          <a:p>
            <a:pPr algn="l">
              <a:defRPr sz="1200" b="1" i="0">
                <a:solidFill>
                  <a:srgbClr val="C8A25A"/>
                </a:solidFill>
                <a:latin typeface="JetBrains Mono"/>
              </a:defRPr>
            </a:pPr>
            <a:r>
              <a:t>TECH STACK</a:t>
            </a:r>
          </a:p>
        </p:txBody>
      </p:sp>
      <p:sp>
        <p:nvSpPr>
          <p:cNvPr id="7" name="TextBox 6"/>
          <p:cNvSpPr txBox="1"/>
          <p:nvPr/>
        </p:nvSpPr>
        <p:spPr>
          <a:xfrm>
            <a:off x="914400" y="2926080"/>
            <a:ext cx="4754880" cy="320040"/>
          </a:xfrm>
          <a:prstGeom prst="rect">
            <a:avLst/>
          </a:prstGeom>
          <a:noFill/>
        </p:spPr>
        <p:txBody>
          <a:bodyPr wrap="square">
            <a:spAutoFit/>
          </a:bodyPr>
          <a:lstStyle/>
          <a:p>
            <a:pPr algn="l">
              <a:defRPr sz="1200" b="0" i="0">
                <a:solidFill>
                  <a:srgbClr val="B8B4AE"/>
                </a:solidFill>
                <a:latin typeface="Inter"/>
              </a:defRPr>
            </a:pPr>
            <a:r>
              <a:t>Frontend: React 19 + Vite 6 + TypeScript 5.8</a:t>
            </a:r>
          </a:p>
        </p:txBody>
      </p:sp>
      <p:sp>
        <p:nvSpPr>
          <p:cNvPr id="8" name="TextBox 7"/>
          <p:cNvSpPr txBox="1"/>
          <p:nvPr/>
        </p:nvSpPr>
        <p:spPr>
          <a:xfrm>
            <a:off x="914400" y="3310128"/>
            <a:ext cx="4754880" cy="320040"/>
          </a:xfrm>
          <a:prstGeom prst="rect">
            <a:avLst/>
          </a:prstGeom>
          <a:noFill/>
        </p:spPr>
        <p:txBody>
          <a:bodyPr wrap="square">
            <a:spAutoFit/>
          </a:bodyPr>
          <a:lstStyle/>
          <a:p>
            <a:pPr algn="l">
              <a:defRPr sz="1200" b="0" i="0">
                <a:solidFill>
                  <a:srgbClr val="B8B4AE"/>
                </a:solidFill>
                <a:latin typeface="Inter"/>
              </a:defRPr>
            </a:pPr>
            <a:r>
              <a:t>Styling: Tailwind CSS v4 + Motion</a:t>
            </a:r>
          </a:p>
        </p:txBody>
      </p:sp>
      <p:sp>
        <p:nvSpPr>
          <p:cNvPr id="9" name="TextBox 8"/>
          <p:cNvSpPr txBox="1"/>
          <p:nvPr/>
        </p:nvSpPr>
        <p:spPr>
          <a:xfrm>
            <a:off x="914400" y="3694176"/>
            <a:ext cx="4754880" cy="320040"/>
          </a:xfrm>
          <a:prstGeom prst="rect">
            <a:avLst/>
          </a:prstGeom>
          <a:noFill/>
        </p:spPr>
        <p:txBody>
          <a:bodyPr wrap="square">
            <a:spAutoFit/>
          </a:bodyPr>
          <a:lstStyle/>
          <a:p>
            <a:pPr algn="l">
              <a:defRPr sz="1200" b="0" i="0">
                <a:solidFill>
                  <a:srgbClr val="B8B4AE"/>
                </a:solidFill>
                <a:latin typeface="Inter"/>
              </a:defRPr>
            </a:pPr>
            <a:r>
              <a:t>i18n: 8 Sprachen (DE/EN/ES/IT/FR/TR/RU/UK)</a:t>
            </a:r>
          </a:p>
        </p:txBody>
      </p:sp>
      <p:sp>
        <p:nvSpPr>
          <p:cNvPr id="10" name="TextBox 9"/>
          <p:cNvSpPr txBox="1"/>
          <p:nvPr/>
        </p:nvSpPr>
        <p:spPr>
          <a:xfrm>
            <a:off x="914400" y="4078224"/>
            <a:ext cx="4754880" cy="320040"/>
          </a:xfrm>
          <a:prstGeom prst="rect">
            <a:avLst/>
          </a:prstGeom>
          <a:noFill/>
        </p:spPr>
        <p:txBody>
          <a:bodyPr wrap="square">
            <a:spAutoFit/>
          </a:bodyPr>
          <a:lstStyle/>
          <a:p>
            <a:pPr algn="l">
              <a:defRPr sz="1200" b="0" i="0">
                <a:solidFill>
                  <a:srgbClr val="B8B4AE"/>
                </a:solidFill>
                <a:latin typeface="Inter"/>
              </a:defRPr>
            </a:pPr>
            <a:r>
              <a:t>Hosting: GCP Cloud Run · europe-west3 · Frankfurt</a:t>
            </a:r>
          </a:p>
        </p:txBody>
      </p:sp>
      <p:sp>
        <p:nvSpPr>
          <p:cNvPr id="11" name="TextBox 10"/>
          <p:cNvSpPr txBox="1"/>
          <p:nvPr/>
        </p:nvSpPr>
        <p:spPr>
          <a:xfrm>
            <a:off x="914400" y="4462272"/>
            <a:ext cx="4754880" cy="320040"/>
          </a:xfrm>
          <a:prstGeom prst="rect">
            <a:avLst/>
          </a:prstGeom>
          <a:noFill/>
        </p:spPr>
        <p:txBody>
          <a:bodyPr wrap="square">
            <a:spAutoFit/>
          </a:bodyPr>
          <a:lstStyle/>
          <a:p>
            <a:pPr algn="l">
              <a:defRPr sz="1200" b="0" i="0">
                <a:solidFill>
                  <a:srgbClr val="B8B4AE"/>
                </a:solidFill>
                <a:latin typeface="Inter"/>
              </a:defRPr>
            </a:pPr>
            <a:r>
              <a:t>Container: Docker + nginx · Auto-Scaling</a:t>
            </a:r>
          </a:p>
        </p:txBody>
      </p:sp>
      <p:sp>
        <p:nvSpPr>
          <p:cNvPr id="12" name="TextBox 11"/>
          <p:cNvSpPr txBox="1"/>
          <p:nvPr/>
        </p:nvSpPr>
        <p:spPr>
          <a:xfrm>
            <a:off x="914400" y="4846320"/>
            <a:ext cx="4754880" cy="320040"/>
          </a:xfrm>
          <a:prstGeom prst="rect">
            <a:avLst/>
          </a:prstGeom>
          <a:noFill/>
        </p:spPr>
        <p:txBody>
          <a:bodyPr wrap="square">
            <a:spAutoFit/>
          </a:bodyPr>
          <a:lstStyle/>
          <a:p>
            <a:pPr algn="l">
              <a:defRPr sz="1200" b="0" i="0">
                <a:solidFill>
                  <a:srgbClr val="B8B4AE"/>
                </a:solidFill>
                <a:latin typeface="Inter"/>
              </a:defRPr>
            </a:pPr>
            <a:r>
              <a:t>Analytics: GA4 · IP-anonymisiert · DSGVO-konform</a:t>
            </a:r>
          </a:p>
        </p:txBody>
      </p:sp>
      <p:sp>
        <p:nvSpPr>
          <p:cNvPr id="13" name="TextBox 12"/>
          <p:cNvSpPr txBox="1"/>
          <p:nvPr/>
        </p:nvSpPr>
        <p:spPr>
          <a:xfrm>
            <a:off x="6400800" y="2377440"/>
            <a:ext cx="5029200" cy="365760"/>
          </a:xfrm>
          <a:prstGeom prst="rect">
            <a:avLst/>
          </a:prstGeom>
          <a:noFill/>
        </p:spPr>
        <p:txBody>
          <a:bodyPr wrap="square">
            <a:spAutoFit/>
          </a:bodyPr>
          <a:lstStyle/>
          <a:p>
            <a:pPr algn="l">
              <a:defRPr sz="1200" b="1" i="0">
                <a:solidFill>
                  <a:srgbClr val="C8A25A"/>
                </a:solidFill>
                <a:latin typeface="JetBrains Mono"/>
              </a:defRPr>
            </a:pPr>
            <a:r>
              <a:t>EU AI ACT COMPLIANCE</a:t>
            </a:r>
          </a:p>
        </p:txBody>
      </p:sp>
      <p:sp>
        <p:nvSpPr>
          <p:cNvPr id="14" name="TextBox 13"/>
          <p:cNvSpPr txBox="1"/>
          <p:nvPr/>
        </p:nvSpPr>
        <p:spPr>
          <a:xfrm>
            <a:off x="6583680" y="2926080"/>
            <a:ext cx="5029200" cy="320040"/>
          </a:xfrm>
          <a:prstGeom prst="rect">
            <a:avLst/>
          </a:prstGeom>
          <a:noFill/>
        </p:spPr>
        <p:txBody>
          <a:bodyPr wrap="square">
            <a:spAutoFit/>
          </a:bodyPr>
          <a:lstStyle/>
          <a:p>
            <a:pPr algn="l">
              <a:defRPr sz="1200" b="0" i="0">
                <a:solidFill>
                  <a:srgbClr val="B8B4AE"/>
                </a:solidFill>
                <a:latin typeface="Inter"/>
              </a:defRPr>
            </a:pPr>
            <a:r>
              <a:t>Klassifikation: Limited-Risk (Art. 50)</a:t>
            </a:r>
          </a:p>
        </p:txBody>
      </p:sp>
      <p:sp>
        <p:nvSpPr>
          <p:cNvPr id="15" name="TextBox 14"/>
          <p:cNvSpPr txBox="1"/>
          <p:nvPr/>
        </p:nvSpPr>
        <p:spPr>
          <a:xfrm>
            <a:off x="6583680" y="3310128"/>
            <a:ext cx="5029200" cy="320040"/>
          </a:xfrm>
          <a:prstGeom prst="rect">
            <a:avLst/>
          </a:prstGeom>
          <a:noFill/>
        </p:spPr>
        <p:txBody>
          <a:bodyPr wrap="square">
            <a:spAutoFit/>
          </a:bodyPr>
          <a:lstStyle/>
          <a:p>
            <a:pPr algn="l">
              <a:defRPr sz="1200" b="0" i="0">
                <a:solidFill>
                  <a:srgbClr val="B8B4AE"/>
                </a:solidFill>
                <a:latin typeface="Inter"/>
              </a:defRPr>
            </a:pPr>
            <a:r>
              <a:t>C2PA-Metadaten auf allen KI-Assets</a:t>
            </a:r>
          </a:p>
        </p:txBody>
      </p:sp>
      <p:sp>
        <p:nvSpPr>
          <p:cNvPr id="16" name="TextBox 15"/>
          <p:cNvSpPr txBox="1"/>
          <p:nvPr/>
        </p:nvSpPr>
        <p:spPr>
          <a:xfrm>
            <a:off x="6583680" y="3694176"/>
            <a:ext cx="5029200" cy="320040"/>
          </a:xfrm>
          <a:prstGeom prst="rect">
            <a:avLst/>
          </a:prstGeom>
          <a:noFill/>
        </p:spPr>
        <p:txBody>
          <a:bodyPr wrap="square">
            <a:spAutoFit/>
          </a:bodyPr>
          <a:lstStyle/>
          <a:p>
            <a:pPr algn="l">
              <a:defRPr sz="1200" b="0" i="0">
                <a:solidFill>
                  <a:srgbClr val="B8B4AE"/>
                </a:solidFill>
                <a:latin typeface="Inter"/>
              </a:defRPr>
            </a:pPr>
            <a:r>
              <a:t>Labeling-Matrix: 4 Transparenzstufen</a:t>
            </a:r>
          </a:p>
        </p:txBody>
      </p:sp>
      <p:sp>
        <p:nvSpPr>
          <p:cNvPr id="17" name="TextBox 16"/>
          <p:cNvSpPr txBox="1"/>
          <p:nvPr/>
        </p:nvSpPr>
        <p:spPr>
          <a:xfrm>
            <a:off x="6583680" y="4078224"/>
            <a:ext cx="5029200" cy="320040"/>
          </a:xfrm>
          <a:prstGeom prst="rect">
            <a:avLst/>
          </a:prstGeom>
          <a:noFill/>
        </p:spPr>
        <p:txBody>
          <a:bodyPr wrap="square">
            <a:spAutoFit/>
          </a:bodyPr>
          <a:lstStyle/>
          <a:p>
            <a:pPr algn="l">
              <a:defRPr sz="1200" b="0" i="0">
                <a:solidFill>
                  <a:srgbClr val="B8B4AE"/>
                </a:solidFill>
                <a:latin typeface="Inter"/>
              </a:defRPr>
            </a:pPr>
            <a:r>
              <a:t>No-Training-Policy für Kunden-Assets</a:t>
            </a:r>
          </a:p>
        </p:txBody>
      </p:sp>
      <p:sp>
        <p:nvSpPr>
          <p:cNvPr id="18" name="TextBox 17"/>
          <p:cNvSpPr txBox="1"/>
          <p:nvPr/>
        </p:nvSpPr>
        <p:spPr>
          <a:xfrm>
            <a:off x="6583680" y="4462272"/>
            <a:ext cx="5029200" cy="320040"/>
          </a:xfrm>
          <a:prstGeom prst="rect">
            <a:avLst/>
          </a:prstGeom>
          <a:noFill/>
        </p:spPr>
        <p:txBody>
          <a:bodyPr wrap="square">
            <a:spAutoFit/>
          </a:bodyPr>
          <a:lstStyle/>
          <a:p>
            <a:pPr algn="l">
              <a:defRPr sz="1200" b="0" i="0">
                <a:solidFill>
                  <a:srgbClr val="B8B4AE"/>
                </a:solidFill>
                <a:latin typeface="Inter"/>
              </a:defRPr>
            </a:pPr>
            <a:r>
              <a:t>Trust Center auf mirrou.studio</a:t>
            </a:r>
          </a:p>
        </p:txBody>
      </p:sp>
      <p:sp>
        <p:nvSpPr>
          <p:cNvPr id="19" name="TextBox 18"/>
          <p:cNvSpPr txBox="1"/>
          <p:nvPr/>
        </p:nvSpPr>
        <p:spPr>
          <a:xfrm>
            <a:off x="6583680" y="4846320"/>
            <a:ext cx="5029200" cy="320040"/>
          </a:xfrm>
          <a:prstGeom prst="rect">
            <a:avLst/>
          </a:prstGeom>
          <a:noFill/>
        </p:spPr>
        <p:txBody>
          <a:bodyPr wrap="square">
            <a:spAutoFit/>
          </a:bodyPr>
          <a:lstStyle/>
          <a:p>
            <a:pPr algn="l">
              <a:defRPr sz="1200" b="0" i="0">
                <a:solidFill>
                  <a:srgbClr val="B8B4AE"/>
                </a:solidFill>
                <a:latin typeface="Inter"/>
              </a:defRPr>
            </a:pPr>
            <a:r>
              <a:t>3-Jahres-Audit-Trail</a:t>
            </a:r>
          </a:p>
        </p:txBody>
      </p:sp>
      <p:sp>
        <p:nvSpPr>
          <p:cNvPr id="20" name="Rectangle 19"/>
          <p:cNvSpPr/>
          <p:nvPr/>
        </p:nvSpPr>
        <p:spPr>
          <a:xfrm>
            <a:off x="731520" y="5303520"/>
            <a:ext cx="10698480" cy="12700"/>
          </a:xfrm>
          <a:prstGeom prst="rect">
            <a:avLst/>
          </a:prstGeom>
          <a:solidFill>
            <a:srgbClr val="C8A2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577840"/>
            <a:ext cx="7315200" cy="457200"/>
          </a:xfrm>
          <a:prstGeom prst="rect">
            <a:avLst/>
          </a:prstGeom>
          <a:noFill/>
        </p:spPr>
        <p:txBody>
          <a:bodyPr wrap="square">
            <a:spAutoFit/>
          </a:bodyPr>
          <a:lstStyle/>
          <a:p>
            <a:pPr algn="l">
              <a:defRPr sz="1600" b="1" i="0">
                <a:solidFill>
                  <a:srgbClr val="F2EFE9"/>
                </a:solidFill>
                <a:latin typeface="Inter"/>
              </a:defRPr>
            </a:pPr>
            <a:r>
              <a:t>mirrou.studio  ·  [QR-Code hier einfügen]</a:t>
            </a:r>
          </a:p>
        </p:txBody>
      </p:sp>
      <p:sp>
        <p:nvSpPr>
          <p:cNvPr id="22" name="TextBox 21"/>
          <p:cNvSpPr txBox="1"/>
          <p:nvPr/>
        </p:nvSpPr>
        <p:spPr>
          <a:xfrm>
            <a:off x="731520" y="6035040"/>
            <a:ext cx="10698480" cy="365760"/>
          </a:xfrm>
          <a:prstGeom prst="rect">
            <a:avLst/>
          </a:prstGeom>
          <a:noFill/>
        </p:spPr>
        <p:txBody>
          <a:bodyPr wrap="square">
            <a:spAutoFit/>
          </a:bodyPr>
          <a:lstStyle/>
          <a:p>
            <a:pPr algn="l">
              <a:defRPr sz="1300" b="0" i="1">
                <a:solidFill>
                  <a:srgbClr val="6E6B66"/>
                </a:solidFill>
                <a:latin typeface="Inter"/>
              </a:defRPr>
            </a:pPr>
            <a:r>
              <a:t>Vielen Dank für Ihre Aufmerksamkeit. Wir eröffnen nun die Fragerunde.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