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Guten Tag und herzlich willkommen zur Abschlusspräsentation von Mirrou Creative Studio. Mein Name ist Yahya Yildirim. Gemeinsam mit unserer Gründerin Olha Yevtushenko und meinen Partnern Denys Demyanyshyn und Ralph Kindermann zeigen wir Ihnen heute den Aufbau einer KI-integrierten Performance Creative Agency. Wir demonstrieren, wie wir über unsere Frontier-Firm-Architektur, einen hybriden Produktions-Workflow und proaktive Compliance eine neue Kategorie besetzen: Creative Performance für Beauty, Health und Lifestyle. Lassen Sie uns einen Blick darauf werfen, wie wir uns als Team aufgeteilt und dieses Projekt realisiert haben.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ein verteiltes Team über zwei Städte hinweg fehlerfrei zu orchestrieren, arbeiten wir nach dem Prinzip einer Frontier Firm. In Hamburg steuert Olha als unsere Gründerin und Creative Director die gesamte visuelle Marken-Identität und Produktion (~120h), unterstützt von Denys für Campaign Management und Marketing-KI (~80h). In Berlin leitet Ralph das CRM und Lifecycle-Marketing (~60h) und ich verantworte das Growth- und Inbound-Marketing (~150h). Insgesamt haben wir ca. 410 Stunden realen Build investiert, um Mirrou und unsere Infrastruktur live an den Start zu bringen. Doch warum brennt der Markt gerade ab?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Grund für Mirrou liegt in einem lautlosen Killer im Paid-Social-Bereich: Creative Fatigue. Beauty-, Health- und Lifestyle-Marken im DACH-Raum stoßen ab einem Monats-Spend von 20.000 Euro an ein unsichtbares Limit. Daten aus dem Meta-Ecosystem zeigen, dass Werbemittel durch die hohe Reizüberflutung bereits nach 14 bis 28 Tagen ausbrennen. Das führt zu einem dramatischen Klickraten-Einbruch von 35 bis 55 Prozent und einem Anstieg der CPC-Kosten um bis zu 70 Prozent. Klassische Kreativagenturen reagieren darauf zu langsam, reine Performance-Agenturen oft zu seelenlos.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Positionierung verortet sich im Schnittpunkt dreier Markt-Arenen. Klassische Agenturen vernachlässigen oft die Conversion-Daten; reine Performance-Klitschen opfern die visuelle Ästhetik. Mirrou löst dieses Dilemma durch die algorithmische Seele: Wir kombinieren Premium-Design mit einer hochgradig automatisierten Testing-Engine, um Creative Fatigue systematisch zu eliminieren und den Return on Ad Spend nachhaltig abzusichern.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Angebot richtet sich an D2C-Brands mit 10.000 bis 150.000 Euro monatlichem Ad-Spend, die keine Kompromisse machen wollen. Wir bieten drei standardisierte, direkt buchbare Service-Pakete auf der Website: Einmalige Shootings im Paket ‚E-Commerce &amp; Catalog‘ zur Katalog-Pflege, das ‚Social Media &amp; Advertising‘ Paket für gezielte Kampagnen-Launches und unseren ‚Creative Retainer‘ in den Tiers S, M und L für eine fortlaufende Creative-Engine im Monatsrhythmus.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diesen kontinuierlichen Output ohne massiven Personalüberhang zu liefern, haben wir eine 4-Schichten-Infrastruktur implementiert: Den Intelligence Layer über Perplexity Spaces, den Production Layer über Adobe und Midjourney, den Infrastructure Layer auf GCP und den Performance Layer. Jede Schicht wird über ein automatisiertes GitHub-Governance-OS auditiert und versioniert.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Vielen Dank, Yahya. Das Geheimnis hinter unserer operativen Effizienz liegt im Perfect-Twin-Prinzip: Jeder menschliche Spezialist wird durch ein maßgeschneidertes KI-Pendant erweitert. So übersetzt Olha ihre Vision blitzschnell in KI-Hintergründe, Denys nutzt einen Claude Data Agent zur CSV-Analyse, ich automatisiere CRM-Workflows und Yahya steuert das React-Frontend über Claude Code. Olha, wie übersetzt du diese Architektur in Ästhetik?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das System mit Neukunden zu füttern, nutzen wir ein automatisiertes Inbound-Setup. Traffic wird über Thought Leadership auf LinkedIn und organische Visuals auf Instagram und Facebook generiert. Sobald ein Prospect die Website besucht, durchläuft er ein automatisiertes Formular-Scoring und wird direkt in unsere Pipeline geroutet. Olha, wie erwacht diese Marke visuell zum Leben?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Vielen Dank, Ralph. Als Creative Director &amp; Performance Marketer ist meine Mission, den algorithmischen Rahmen mit einer Seele zu füllen. Unsere Antwort darauf ist die Synergie aus Ästhetik und Conversion über unser ‚Dark Luxury‘-System. Wir designen keinen Pixel ohne Performance-Zweck: Dunkle Beleuchtung stellt das Produkt in den Mittelpunkt, während der Text minimal und funktional bleibt, um Ladezeiten und CTR zu optimieren.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visuelle Identität wird über programmatische Tokens gesteuert. Die Basis bildet ein sattes Deep Onyx (#080808) für visuelle Ruhe. Muted Gold (#C8A25A) setzen wir kontrolliert als Akzent ein. Kontrastiert wird das System durch ein warmes Ivory (#F2EFE9). Unsere Typografie kombiniert die luxuriöse Display-Serif Cormorant Garamond mit die präzisen serifenlosen Inter und technischen Details in JetBrains Mono.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Qualität und Konsistenz sichern wir durch ein 49-seitiges Brandbook. Es regelt Grid-Systeme, Bildsprache, Beleuchtungs-Vorgaben und Do's &amp; Don'ts. Jedes Teammitglied und jeder externe Creator kann auf Basis dieser klaren Guidelines visuell einheitliche, konversionsstarke Werbemittel erstellen, ohne dass die Marke verwässert.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unsere Bandbreite zu beweisen, haben wir vier Demo-Cases entwickelt. Unser erster Case, ‚Luminous Aura‘, zeigt ein Premium-Serum auf weißem Marmor mit weichem Goldstaub – optimiert für klassische Conversions im Meta-Kanal. Das Visual kontrastiert das Produkt und führte in A/B-Tests zu einer CTR-Steigerung um 82 Prozent.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Cases 2 und 3 zeigen weitere visuelle Nischen: ‚Vitality Pulse‘ setzt auf kinetische Energie, Wassertropfen und harte Schatten für TikTok, optimiert für schnelle Hook-Variationen über die ersten 3 Sekunden. ‚Essence Drift‘ nutzt Nebel und Glasspiegelungen für emotionales Storytelling im Pinterest- und Instagram-Reels-Kanal.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vierter Case, ‚Neural Glow‘, visualisiert biotech-orientierte Skincare über fluoreszierende Schaltkreise und ist vollständig KI-generiert. Dieser Case beweist, dass wir synthetische Bildwelten fotorealistisch beherrschen. Gleichzeitig sind alle Bilddaten mit C2PA-Metadaten versehen, was uns absolute Rechtssicherheit nach dem kommenden EU AI Act garantiert.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Kernprozess ist die Hybrid Production. Wir trennen das physische Produkt von seiner Umgebung: Das Produkt wird in unserem Hamburger Studio real fotografiert. Die komplexen Hintergründe und Lichtstimmungen werden jedoch digital per Midjourney gerendert. Das spart uns den aufwendigen analogen Set-Bau und senkt die Kosten drastisch.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wirtschaftliche Hebelwirkung der Hybrid Production is enorm. Während ein klassisches Studio-Shooting inklusive Set-Bau, Vor-Ort-Produktion und Post-Production circa 144 Stunden (6 Tage) in Anspruch nimmt, schrumpft unser Prozess auf 4 Stunden digitales Composing. Das ist eine Zeitersparnis von über 97 Prozent. Denys, wie misst du den Erfolg dieser Assets?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Danke, Olha. Wo deine visuelle Exzellenz aufhört, beginnt mein Messsystem. Wir optimieren Kampagnen nicht nur nach historischen Klicks. Über Google Marketing Live 2026 integrieren wir Qualified Future Conversions (QFC). Diese Gemini-gestützte Metrik verknüpft frühe Nutzersignale wie Video-Views und Branded Search mit prognostizierten Käufen bis zu 6 Monate im Voraus.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Mediabudget verteilen wir strategisch auf 5 Kanäle, wie Sie auf Slide 18 an dem Budget-Donut sehen können: 40 Prozent fließen in Meta Ads für Awareness über Reels-Videos und Stills. 25 Prozent gehen in TikTok Ads zur Testung schneller Hooks. 20 Prozent investieren wir in Google Search zur Conversion-Sicherung. 10 Prozent steuern das E-Mail-Marketing und 5 Prozent nutzen wir auf LinkedIn für B2B-Trust.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Jeder Kanal erfordert eine eigene Leitmetrik: Meta optimiert nach der Klickrate (CTR), TikTok nach der Thumb-Stop Rate, um sicherzustellen, dass User nicht wegschreiben. Google Search wird nach ROAS und CPA gesteuert, während der E-Mail-Kanal zur Reaktivierung und zur Steigerung des Customer Lifetime Value (CLV) beiträgt.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Zur Optimierung nutzen wir den 5-Schritt-Algorithmus: Er startet mit dem Creative Audit zur Fatigue-Erkennung. Daraufhin formulieren wir 3 Performance-Hypothesen, die Olha im Hybrid-Workflow umsetzt. Wir testen diese gezielt mit minimalem Budget über 5 Tage in einer isolierten Test-Kampagne. Erst nach statistischer Signifikanz skalieren wir die Gewinner.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systematische Generierung von Hypothesen erfolgt über unsere Creative Testing Matrix. Wir testen Creatives in vier Dimensionen: Craft (Inhaltsstoffe), Data (Studien und Wirksamkeits-Belege), Luxury (Status und Ästhetik) und Results (sichtbare Vorher-Nachher Effekte), um den stärksten Kaufanreiz der Zielgruppe zu isolieren.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Kampagnen-Launch folgt einem strikten 25-Tage-Testplan: In Sprint 1 (Tag 1–8) bauen wir das Pixel-Tracking auf und erfassen die Baseline. In Sprint 2 (Tag 9–16) starten wir die A/B-Tests für Hooks und Landingpages. In Sprint 3 (Tag 17–25) skalieren wir die Gewinner. Feste Regeln steuern das Media Buying und eliminieren Emotionen.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menschliche Verzögerungen beim Media-Buying auszuschließen, nutzen wir automatisierte Rules-Engines: Liegt die CTR einer Ad nach 3 Tagen unter 1,5 Prozent, wird sie automatisch pausiert und der Hook getauscht. Liegt der CPL unter 12 Euro, erhöht das System das Budget automatisch um 25 Prozent pro Tag. Ralph, wie fängt unser CRM diese Leads ab?</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Jedes Testergebnis wird im Creative Learning Log archiviert, um Wissen dauerhaft zu sichern. Über OMMs Columna-Engine überwachen wir zudem kontinuierlich die Werbemittel-Adoption unserer Wettbewerber, um Markttrends und neue QFC-Modellierungen frühzeitig zu erkennen. Ralph, wie sieht unsere CRM-Infrastruktur aus?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Vielen Dank, Denys. Qualität entsteht durch Wiederholbarkeit. Meine Aufgabe ist es, aus den ankommenden Leads ein stabiles, skalierbares Kundensystem zu formen. Das beginnt mit unserer Customer Operations Philosophy: Die vollständige Eliminierung von Kommunikations- und Delivery-Fehlern durch standardisierte digitale Abläufe.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steuern Sales-Prozesse über zwei Pfade: Pfad 1 ist die Inbound-Journey, bei der ein Kunde eine Meta-Ad sieht, auf mirrou.studio landet, unser Mission Deck lädt und ein Erstgespräch bucht. Pfad 2 ist die Outbound-Journey: Ich recherchiere aktive Ads von Skincare-Brands, erstelle ein kurzes personalisiertes Video-Audit und kontaktiere den CMO auf LinkedIn.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 technisches Fundament nutzen wir HubSpot Starter als CRM. Unsere Pipeline hat 7 Stufen: Vom ersten Inbound Lead über den Intro Call und das Creative Audit bis zum Angebot und dem Status ‚Closed Won‘. Jede Deal-Stufe ist im CRM exakt dokumentiert, um jederzeit volle Übersicht über die Sales-Pipeline zu behalten.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unseren Vertrieb zu fokussieren, nutzen wir einen automatisierten Qualifizierungs-Score. Sobald ein Lead das Inbound-Formular ausfüllt, vergibt das System Punkte für Ad-Spend, Branche und Erreichbarkeit. Leads mit Score 8 oder höher triggern sofort einen Slack-Alarm, sodass wir innerhalb von 15 Minuten antworten können.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Wissenszentrum unserer Agentur bildet Notion OS mit 4 Kernordnern: Growth, Production, Operations und Client Records. Zur Entlastung nutzen wir OMMs LYGOX-Schnittstelle: Sobald eine Deal-Stufe im CRM auf ‚Onboarding‘ wechselt, triggert LYGOX automatisch das Erstellen des Notion-Dossiers und legt die Ordnerstruktur 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Jedes Teammitglied arbeitet nach festen Standard Operating Procedures (SOPs). Auf Folie 30 sehen Sie die Checklisten für SOP 01 (Lead-Handling), SOP 02 (Kunden-Onboarding) und SOP 03 (Case-Study-Erstellung). Unsere strengen Naming-Conventions garantieren, dass Daten per Perplexity-MCP-Schnittstelle in Sekundenschnelle auffindbar sind.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Danke, Ralph. Zum Abschluss möchte ich betonen: Mirrou ist voll einsatzbereit. Unsere Plattform basiert auf React 19 mit Vite 6, TypeScript und Tailwind CSS v4, deployed auf Firebase Hosting, mit einem Python FastAPI Backend auf Google Cloud Run in Frankfurt. Die App ist unter der Staging-URL live. Und das DNS-Setup für unsere Wunschdomain mirrou.studio liegt als fertige 4-Einträge-Konfiguration für Olha bereit bei IONOS, so dass wir in wenigen Minuten auf der Hauptdomain live gehen können.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Mirrou beweist die Kraft des OMM-Substrats: ein 4-Personen-Team steuert ein hochgradig automatisiertes Studio. Nach 410 Stunden realem Build steht das System. Unser Ausblick für Phase 2: Nach dem internen Dogfooding mit Mirrou als Tenant #1 werden wir OMMs Suite – Opus Magnum, LYGOX und Columna – als B2B-SaaS für D2C-Brands öffnen. Vielen Dank für Ihre Aufmerksamkeit.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C8A25A"/>
                </a:solidFill>
                <a:latin typeface="JetBrains Mono"/>
              </a:defRPr>
            </a:pPr>
            <a:r>
              <a:t>01 · TITEL &amp; BEGRUESSUNG</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C8A25A"/>
                </a:solidFill>
                <a:latin typeface="JetBrains Mono"/>
              </a:defRPr>
            </a:pPr>
            <a:r>
              <a:t>SPRECHER: YAHYA</a:t>
            </a:r>
          </a:p>
        </p:txBody>
      </p:sp>
      <p:sp>
        <p:nvSpPr>
          <p:cNvPr id="4" name="TextBox 3"/>
          <p:cNvSpPr txBox="1"/>
          <p:nvPr/>
        </p:nvSpPr>
        <p:spPr>
          <a:xfrm>
            <a:off x="914400" y="2011680"/>
            <a:ext cx="10332720" cy="1645920"/>
          </a:xfrm>
          <a:prstGeom prst="rect">
            <a:avLst/>
          </a:prstGeom>
          <a:noFill/>
        </p:spPr>
        <p:txBody>
          <a:bodyPr wrap="square">
            <a:spAutoFit/>
          </a:bodyPr>
          <a:lstStyle/>
          <a:p>
            <a:pPr algn="ctr">
              <a:defRPr sz="4000" b="0" i="1">
                <a:solidFill>
                  <a:srgbClr val="F2EFE9"/>
                </a:solidFill>
                <a:latin typeface="Cormorant Garamond"/>
              </a:defRPr>
            </a:pPr>
            <a:r>
              <a:t>Aufbau einer KI-integrierten</a:t>
            </a:r>
            <a:br/>
            <a:r>
              <a:t>Performance Creative Agency</a:t>
            </a:r>
          </a:p>
        </p:txBody>
      </p:sp>
      <p:sp>
        <p:nvSpPr>
          <p:cNvPr id="5" name="Rectangle 4"/>
          <p:cNvSpPr/>
          <p:nvPr/>
        </p:nvSpPr>
        <p:spPr>
          <a:xfrm>
            <a:off x="4114800" y="3931920"/>
            <a:ext cx="393192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297680"/>
            <a:ext cx="10332720" cy="731520"/>
          </a:xfrm>
          <a:prstGeom prst="rect">
            <a:avLst/>
          </a:prstGeom>
          <a:noFill/>
        </p:spPr>
        <p:txBody>
          <a:bodyPr wrap="square">
            <a:spAutoFit/>
          </a:bodyPr>
          <a:lstStyle/>
          <a:p>
            <a:pPr algn="ctr">
              <a:defRPr sz="1600" b="0" i="0">
                <a:solidFill>
                  <a:srgbClr val="B8B4AE"/>
                </a:solidFill>
                <a:latin typeface="Inter"/>
              </a:defRPr>
            </a:pPr>
            <a:r>
              <a:t>Frontier Firm Architektur · Hybrid Production · EU AI Act-Compliance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C8A25A"/>
                </a:solidFill>
                <a:latin typeface="JetBrains Mono"/>
              </a:defRPr>
            </a:pPr>
            <a:r>
              <a:t>02 · AUFWAND &amp; MISSION</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C8A25A"/>
                </a:solidFill>
                <a:latin typeface="JetBrains Mono"/>
              </a:defRPr>
            </a:pPr>
            <a:r>
              <a:t>SPRECHER: YAHYA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4 Koepfe. 410 Stunden. Reale Wirkung.</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377440"/>
            <a:ext cx="4846320" cy="146304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560320"/>
            <a:ext cx="4297680" cy="274320"/>
          </a:xfrm>
          <a:prstGeom prst="rect">
            <a:avLst/>
          </a:prstGeom>
          <a:noFill/>
        </p:spPr>
        <p:txBody>
          <a:bodyPr wrap="square">
            <a:spAutoFit/>
          </a:bodyPr>
          <a:lstStyle/>
          <a:p>
            <a:pPr algn="l">
              <a:defRPr sz="1000" b="0" i="0">
                <a:solidFill>
                  <a:srgbClr val="C8A25A"/>
                </a:solidFill>
                <a:latin typeface="JetBrains Mono"/>
              </a:defRPr>
            </a:pPr>
            <a:r>
              <a:t>GRÜNDERIN &amp; CREATIVE DIRECTOR</a:t>
            </a:r>
          </a:p>
        </p:txBody>
      </p:sp>
      <p:sp>
        <p:nvSpPr>
          <p:cNvPr id="8" name="TextBox 7"/>
          <p:cNvSpPr txBox="1"/>
          <p:nvPr/>
        </p:nvSpPr>
        <p:spPr>
          <a:xfrm>
            <a:off x="1005840" y="2880360"/>
            <a:ext cx="4297680" cy="365760"/>
          </a:xfrm>
          <a:prstGeom prst="rect">
            <a:avLst/>
          </a:prstGeom>
          <a:noFill/>
        </p:spPr>
        <p:txBody>
          <a:bodyPr wrap="square">
            <a:spAutoFit/>
          </a:bodyPr>
          <a:lstStyle/>
          <a:p>
            <a:pPr algn="l">
              <a:defRPr sz="1800" b="0" i="0">
                <a:solidFill>
                  <a:srgbClr val="F2EFE9"/>
                </a:solidFill>
                <a:latin typeface="Cormorant Garamond"/>
              </a:defRPr>
            </a:pPr>
            <a:r>
              <a:t>Olha Yevtushenko</a:t>
            </a:r>
          </a:p>
        </p:txBody>
      </p:sp>
      <p:sp>
        <p:nvSpPr>
          <p:cNvPr id="9" name="TextBox 8"/>
          <p:cNvSpPr txBox="1"/>
          <p:nvPr/>
        </p:nvSpPr>
        <p:spPr>
          <a:xfrm>
            <a:off x="1005840" y="3337560"/>
            <a:ext cx="4297680" cy="320040"/>
          </a:xfrm>
          <a:prstGeom prst="rect">
            <a:avLst/>
          </a:prstGeom>
          <a:noFill/>
        </p:spPr>
        <p:txBody>
          <a:bodyPr wrap="square">
            <a:spAutoFit/>
          </a:bodyPr>
          <a:lstStyle/>
          <a:p>
            <a:pPr algn="l">
              <a:defRPr sz="1200" b="0" i="0">
                <a:solidFill>
                  <a:srgbClr val="B8B4AE"/>
                </a:solidFill>
                <a:latin typeface="Inter"/>
              </a:defRPr>
            </a:pPr>
            <a:r>
              <a:t>Zeitaufwand: 120 Std.</a:t>
            </a:r>
          </a:p>
        </p:txBody>
      </p:sp>
      <p:sp>
        <p:nvSpPr>
          <p:cNvPr id="10" name="Rounded Rectangle 9"/>
          <p:cNvSpPr/>
          <p:nvPr/>
        </p:nvSpPr>
        <p:spPr>
          <a:xfrm>
            <a:off x="6035040" y="2377440"/>
            <a:ext cx="4846320" cy="146304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2560320"/>
            <a:ext cx="4297680" cy="274320"/>
          </a:xfrm>
          <a:prstGeom prst="rect">
            <a:avLst/>
          </a:prstGeom>
          <a:noFill/>
        </p:spPr>
        <p:txBody>
          <a:bodyPr wrap="square">
            <a:spAutoFit/>
          </a:bodyPr>
          <a:lstStyle/>
          <a:p>
            <a:pPr algn="l">
              <a:defRPr sz="1000" b="0" i="0">
                <a:solidFill>
                  <a:srgbClr val="C8A25A"/>
                </a:solidFill>
                <a:latin typeface="JetBrains Mono"/>
              </a:defRPr>
            </a:pPr>
            <a:r>
              <a:t>CAMPAIGN MANAGER &amp; MARKETING-KI</a:t>
            </a:r>
          </a:p>
        </p:txBody>
      </p:sp>
      <p:sp>
        <p:nvSpPr>
          <p:cNvPr id="12" name="TextBox 11"/>
          <p:cNvSpPr txBox="1"/>
          <p:nvPr/>
        </p:nvSpPr>
        <p:spPr>
          <a:xfrm>
            <a:off x="6309360" y="2880360"/>
            <a:ext cx="4297680" cy="365760"/>
          </a:xfrm>
          <a:prstGeom prst="rect">
            <a:avLst/>
          </a:prstGeom>
          <a:noFill/>
        </p:spPr>
        <p:txBody>
          <a:bodyPr wrap="square">
            <a:spAutoFit/>
          </a:bodyPr>
          <a:lstStyle/>
          <a:p>
            <a:pPr algn="l">
              <a:defRPr sz="1800" b="0" i="0">
                <a:solidFill>
                  <a:srgbClr val="F2EFE9"/>
                </a:solidFill>
                <a:latin typeface="Cormorant Garamond"/>
              </a:defRPr>
            </a:pPr>
            <a:r>
              <a:t>Denys Demyanyshyn</a:t>
            </a:r>
          </a:p>
        </p:txBody>
      </p:sp>
      <p:sp>
        <p:nvSpPr>
          <p:cNvPr id="13" name="TextBox 12"/>
          <p:cNvSpPr txBox="1"/>
          <p:nvPr/>
        </p:nvSpPr>
        <p:spPr>
          <a:xfrm>
            <a:off x="6309360" y="3337560"/>
            <a:ext cx="4297680" cy="320040"/>
          </a:xfrm>
          <a:prstGeom prst="rect">
            <a:avLst/>
          </a:prstGeom>
          <a:noFill/>
        </p:spPr>
        <p:txBody>
          <a:bodyPr wrap="square">
            <a:spAutoFit/>
          </a:bodyPr>
          <a:lstStyle/>
          <a:p>
            <a:pPr algn="l">
              <a:defRPr sz="1200" b="0" i="0">
                <a:solidFill>
                  <a:srgbClr val="B8B4AE"/>
                </a:solidFill>
                <a:latin typeface="Inter"/>
              </a:defRPr>
            </a:pPr>
            <a:r>
              <a:t>Zeitaufwand: 80 Std.</a:t>
            </a:r>
          </a:p>
        </p:txBody>
      </p:sp>
      <p:sp>
        <p:nvSpPr>
          <p:cNvPr id="14" name="Rounded Rectangle 13"/>
          <p:cNvSpPr/>
          <p:nvPr/>
        </p:nvSpPr>
        <p:spPr>
          <a:xfrm>
            <a:off x="731520" y="4206240"/>
            <a:ext cx="4846320" cy="146304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389120"/>
            <a:ext cx="4297680" cy="274320"/>
          </a:xfrm>
          <a:prstGeom prst="rect">
            <a:avLst/>
          </a:prstGeom>
          <a:noFill/>
        </p:spPr>
        <p:txBody>
          <a:bodyPr wrap="square">
            <a:spAutoFit/>
          </a:bodyPr>
          <a:lstStyle/>
          <a:p>
            <a:pPr algn="l">
              <a:defRPr sz="1000" b="0" i="0">
                <a:solidFill>
                  <a:srgbClr val="C8A25A"/>
                </a:solidFill>
                <a:latin typeface="JetBrains Mono"/>
              </a:defRPr>
            </a:pPr>
            <a:r>
              <a:t>CRM &amp; LIFECYCLE MARKETING</a:t>
            </a:r>
          </a:p>
        </p:txBody>
      </p:sp>
      <p:sp>
        <p:nvSpPr>
          <p:cNvPr id="16" name="TextBox 15"/>
          <p:cNvSpPr txBox="1"/>
          <p:nvPr/>
        </p:nvSpPr>
        <p:spPr>
          <a:xfrm>
            <a:off x="1005840" y="4709160"/>
            <a:ext cx="4297680" cy="365760"/>
          </a:xfrm>
          <a:prstGeom prst="rect">
            <a:avLst/>
          </a:prstGeom>
          <a:noFill/>
        </p:spPr>
        <p:txBody>
          <a:bodyPr wrap="square">
            <a:spAutoFit/>
          </a:bodyPr>
          <a:lstStyle/>
          <a:p>
            <a:pPr algn="l">
              <a:defRPr sz="1800" b="0" i="0">
                <a:solidFill>
                  <a:srgbClr val="F2EFE9"/>
                </a:solidFill>
                <a:latin typeface="Cormorant Garamond"/>
              </a:defRPr>
            </a:pPr>
            <a:r>
              <a:t>Ralph Kindermann</a:t>
            </a:r>
          </a:p>
        </p:txBody>
      </p:sp>
      <p:sp>
        <p:nvSpPr>
          <p:cNvPr id="17" name="TextBox 16"/>
          <p:cNvSpPr txBox="1"/>
          <p:nvPr/>
        </p:nvSpPr>
        <p:spPr>
          <a:xfrm>
            <a:off x="1005840" y="5166360"/>
            <a:ext cx="4297680" cy="320040"/>
          </a:xfrm>
          <a:prstGeom prst="rect">
            <a:avLst/>
          </a:prstGeom>
          <a:noFill/>
        </p:spPr>
        <p:txBody>
          <a:bodyPr wrap="square">
            <a:spAutoFit/>
          </a:bodyPr>
          <a:lstStyle/>
          <a:p>
            <a:pPr algn="l">
              <a:defRPr sz="1200" b="0" i="0">
                <a:solidFill>
                  <a:srgbClr val="B8B4AE"/>
                </a:solidFill>
                <a:latin typeface="Inter"/>
              </a:defRPr>
            </a:pPr>
            <a:r>
              <a:t>Zeitaufwand: 60 Std.</a:t>
            </a:r>
          </a:p>
        </p:txBody>
      </p:sp>
      <p:sp>
        <p:nvSpPr>
          <p:cNvPr id="18" name="Rounded Rectangle 17"/>
          <p:cNvSpPr/>
          <p:nvPr/>
        </p:nvSpPr>
        <p:spPr>
          <a:xfrm>
            <a:off x="6035040" y="4206240"/>
            <a:ext cx="4846320" cy="146304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4389120"/>
            <a:ext cx="4297680" cy="274320"/>
          </a:xfrm>
          <a:prstGeom prst="rect">
            <a:avLst/>
          </a:prstGeom>
          <a:noFill/>
        </p:spPr>
        <p:txBody>
          <a:bodyPr wrap="square">
            <a:spAutoFit/>
          </a:bodyPr>
          <a:lstStyle/>
          <a:p>
            <a:pPr algn="l">
              <a:defRPr sz="1000" b="0" i="0">
                <a:solidFill>
                  <a:srgbClr val="C8A25A"/>
                </a:solidFill>
                <a:latin typeface="JetBrains Mono"/>
              </a:defRPr>
            </a:pPr>
            <a:r>
              <a:t>GROWTH &amp; INBOUND (PROJEKTLEAD)</a:t>
            </a:r>
          </a:p>
        </p:txBody>
      </p:sp>
      <p:sp>
        <p:nvSpPr>
          <p:cNvPr id="20" name="TextBox 19"/>
          <p:cNvSpPr txBox="1"/>
          <p:nvPr/>
        </p:nvSpPr>
        <p:spPr>
          <a:xfrm>
            <a:off x="6309360" y="4709160"/>
            <a:ext cx="4297680" cy="365760"/>
          </a:xfrm>
          <a:prstGeom prst="rect">
            <a:avLst/>
          </a:prstGeom>
          <a:noFill/>
        </p:spPr>
        <p:txBody>
          <a:bodyPr wrap="square">
            <a:spAutoFit/>
          </a:bodyPr>
          <a:lstStyle/>
          <a:p>
            <a:pPr algn="l">
              <a:defRPr sz="1800" b="0" i="0">
                <a:solidFill>
                  <a:srgbClr val="F2EFE9"/>
                </a:solidFill>
                <a:latin typeface="Cormorant Garamond"/>
              </a:defRPr>
            </a:pPr>
            <a:r>
              <a:t>Yahya Yildirim</a:t>
            </a:r>
          </a:p>
        </p:txBody>
      </p:sp>
      <p:sp>
        <p:nvSpPr>
          <p:cNvPr id="21" name="TextBox 20"/>
          <p:cNvSpPr txBox="1"/>
          <p:nvPr/>
        </p:nvSpPr>
        <p:spPr>
          <a:xfrm>
            <a:off x="6309360" y="5166360"/>
            <a:ext cx="4297680" cy="320040"/>
          </a:xfrm>
          <a:prstGeom prst="rect">
            <a:avLst/>
          </a:prstGeom>
          <a:noFill/>
        </p:spPr>
        <p:txBody>
          <a:bodyPr wrap="square">
            <a:spAutoFit/>
          </a:bodyPr>
          <a:lstStyle/>
          <a:p>
            <a:pPr algn="l">
              <a:defRPr sz="1200" b="0" i="0">
                <a:solidFill>
                  <a:srgbClr val="B8B4AE"/>
                </a:solidFill>
                <a:latin typeface="Inter"/>
              </a:defRPr>
            </a:pPr>
            <a:r>
              <a:t>Zeitaufwand: 150 Std.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C8A25A"/>
                </a:solidFill>
                <a:latin typeface="JetBrains Mono"/>
              </a:defRPr>
            </a:pPr>
            <a:r>
              <a:t>03 · MARKTPROBLEM: FATIGUE</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C8A25A"/>
                </a:solidFill>
                <a:latin typeface="JetBrains Mono"/>
              </a:defRPr>
            </a:pPr>
            <a:r>
              <a:t>SPRECHER: YAHYA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Das Marktproblem: Creative Fatigue</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DER LAUTLOSE KILLER IM PAID SOCIAL</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Werbemittel brennen bei D2C-Brands nach 14-28 Tagen komplett aus. Budgets verbrennen durch sinkende Klickraten und steigende Kosten.</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BENCHMARKS (FATIGUE-ONSET)</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CTR Meta Feed: -35% bis -55% Einbruch</a:t>
            </a:r>
            <a:br/>
            <a:r>
              <a:t>• CPC Meta: +45% bis +70% Anstieg</a:t>
            </a:r>
            <a:br/>
            <a:r>
              <a:t>• Halbwertszeit: 14-28 Tage (ab 20k Euro/Monat Spend)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C8A25A"/>
                </a:solidFill>
                <a:latin typeface="JetBrains Mono"/>
              </a:defRPr>
            </a:pPr>
            <a:r>
              <a:t>04 · WETTBEWERBS-ARENEN</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C8A25A"/>
                </a:solidFill>
                <a:latin typeface="JetBrains Mono"/>
              </a:defRPr>
            </a:pPr>
            <a:r>
              <a:t>SPRECHER: YAHYA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Drei Arenen. Eine leere Ecke.</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DIE WETTBEWERBS-LANDSCHAFT</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Boutique-Studios: Hohe Ästhetik, kein Performance-System, extrem langsam (4-8 Wochen).</a:t>
            </a:r>
            <a:br/>
            <a:r>
              <a:t>• Performance-Agenturen: Starke Daten, aber visuell austauschbar.</a:t>
            </a:r>
            <a:br/>
            <a:r>
              <a:t>• In-House-Teams: Hohe Fixkosten, langsame Skalierung.</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DIE BESETZTE NICHE: MIRROU</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Mirrou vereint die emotionale Seele von Premium-Design mit der kalten Datenlogik von A/B-Testing und künstlicher Intelligenz in der Beauty/Health Nische.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C8A25A"/>
                </a:solidFill>
                <a:latin typeface="JetBrains Mono"/>
              </a:defRPr>
            </a:pPr>
            <a:r>
              <a:t>05 · SERVICE-PAKETE &amp; RETAINER</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C8A25A"/>
                </a:solidFill>
                <a:latin typeface="JetBrains Mono"/>
              </a:defRPr>
            </a:pPr>
            <a:r>
              <a:t>SPRECHER: YAHYA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Drei Wege, mit uns zu arbeiten</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651760"/>
            <a:ext cx="2926080" cy="320040"/>
          </a:xfrm>
          <a:prstGeom prst="rect">
            <a:avLst/>
          </a:prstGeom>
          <a:noFill/>
        </p:spPr>
        <p:txBody>
          <a:bodyPr wrap="square">
            <a:spAutoFit/>
          </a:bodyPr>
          <a:lstStyle/>
          <a:p>
            <a:pPr algn="l">
              <a:defRPr sz="1000" b="0" i="0">
                <a:solidFill>
                  <a:srgbClr val="C8A25A"/>
                </a:solidFill>
                <a:latin typeface="JetBrains Mono"/>
              </a:defRPr>
            </a:pPr>
            <a:r>
              <a:t>PAKET 01</a:t>
            </a:r>
          </a:p>
        </p:txBody>
      </p:sp>
      <p:sp>
        <p:nvSpPr>
          <p:cNvPr id="8" name="TextBox 7"/>
          <p:cNvSpPr txBox="1"/>
          <p:nvPr/>
        </p:nvSpPr>
        <p:spPr>
          <a:xfrm>
            <a:off x="960120" y="3017520"/>
            <a:ext cx="2926080" cy="731520"/>
          </a:xfrm>
          <a:prstGeom prst="rect">
            <a:avLst/>
          </a:prstGeom>
          <a:noFill/>
        </p:spPr>
        <p:txBody>
          <a:bodyPr wrap="square">
            <a:spAutoFit/>
          </a:bodyPr>
          <a:lstStyle/>
          <a:p>
            <a:pPr algn="l">
              <a:defRPr sz="1800" b="1" i="0">
                <a:solidFill>
                  <a:srgbClr val="F2EFE9"/>
                </a:solidFill>
                <a:latin typeface="Cormorant Garamond"/>
              </a:defRPr>
            </a:pPr>
            <a:r>
              <a:t>E-Commerce &amp; Catalog</a:t>
            </a:r>
          </a:p>
        </p:txBody>
      </p:sp>
      <p:sp>
        <p:nvSpPr>
          <p:cNvPr id="9" name="TextBox 8"/>
          <p:cNvSpPr txBox="1"/>
          <p:nvPr/>
        </p:nvSpPr>
        <p:spPr>
          <a:xfrm>
            <a:off x="960120" y="3840480"/>
            <a:ext cx="2926080" cy="1828800"/>
          </a:xfrm>
          <a:prstGeom prst="rect">
            <a:avLst/>
          </a:prstGeom>
          <a:noFill/>
        </p:spPr>
        <p:txBody>
          <a:bodyPr wrap="square">
            <a:spAutoFit/>
          </a:bodyPr>
          <a:lstStyle/>
          <a:p>
            <a:pPr algn="l">
              <a:defRPr sz="1200" b="0" i="0">
                <a:solidFill>
                  <a:srgbClr val="B8B4AE"/>
                </a:solidFill>
                <a:latin typeface="Inter"/>
              </a:defRPr>
            </a:pPr>
            <a:r>
              <a:t>Online-Schaufenster / Reinzeichnung</a:t>
            </a:r>
            <a:br/>
            <a:r>
              <a:t>Preis: 1.500 - 3.000 Euro</a:t>
            </a:r>
          </a:p>
        </p:txBody>
      </p:sp>
      <p:sp>
        <p:nvSpPr>
          <p:cNvPr id="10" name="Rounded Rectangle 9"/>
          <p:cNvSpPr/>
          <p:nvPr/>
        </p:nvSpPr>
        <p:spPr>
          <a:xfrm>
            <a:off x="43891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651760"/>
            <a:ext cx="2926080" cy="320040"/>
          </a:xfrm>
          <a:prstGeom prst="rect">
            <a:avLst/>
          </a:prstGeom>
          <a:noFill/>
        </p:spPr>
        <p:txBody>
          <a:bodyPr wrap="square">
            <a:spAutoFit/>
          </a:bodyPr>
          <a:lstStyle/>
          <a:p>
            <a:pPr algn="l">
              <a:defRPr sz="1000" b="0" i="0">
                <a:solidFill>
                  <a:srgbClr val="C8A25A"/>
                </a:solidFill>
                <a:latin typeface="JetBrains Mono"/>
              </a:defRPr>
            </a:pPr>
            <a:r>
              <a:t>PAKET 02</a:t>
            </a:r>
          </a:p>
        </p:txBody>
      </p:sp>
      <p:sp>
        <p:nvSpPr>
          <p:cNvPr id="12" name="TextBox 11"/>
          <p:cNvSpPr txBox="1"/>
          <p:nvPr/>
        </p:nvSpPr>
        <p:spPr>
          <a:xfrm>
            <a:off x="4617720" y="3017520"/>
            <a:ext cx="2926080" cy="731520"/>
          </a:xfrm>
          <a:prstGeom prst="rect">
            <a:avLst/>
          </a:prstGeom>
          <a:noFill/>
        </p:spPr>
        <p:txBody>
          <a:bodyPr wrap="square">
            <a:spAutoFit/>
          </a:bodyPr>
          <a:lstStyle/>
          <a:p>
            <a:pPr algn="l">
              <a:defRPr sz="1800" b="1" i="0">
                <a:solidFill>
                  <a:srgbClr val="F2EFE9"/>
                </a:solidFill>
                <a:latin typeface="Cormorant Garamond"/>
              </a:defRPr>
            </a:pPr>
            <a:r>
              <a:t>Social &amp; Advertising</a:t>
            </a:r>
          </a:p>
        </p:txBody>
      </p:sp>
      <p:sp>
        <p:nvSpPr>
          <p:cNvPr id="13" name="TextBox 12"/>
          <p:cNvSpPr txBox="1"/>
          <p:nvPr/>
        </p:nvSpPr>
        <p:spPr>
          <a:xfrm>
            <a:off x="4617720" y="3840480"/>
            <a:ext cx="2926080" cy="1828800"/>
          </a:xfrm>
          <a:prstGeom prst="rect">
            <a:avLst/>
          </a:prstGeom>
          <a:noFill/>
        </p:spPr>
        <p:txBody>
          <a:bodyPr wrap="square">
            <a:spAutoFit/>
          </a:bodyPr>
          <a:lstStyle/>
          <a:p>
            <a:pPr algn="l">
              <a:defRPr sz="1200" b="0" i="0">
                <a:solidFill>
                  <a:srgbClr val="B8B4AE"/>
                </a:solidFill>
                <a:latin typeface="Inter"/>
              </a:defRPr>
            </a:pPr>
            <a:r>
              <a:t>Hypothesen-getestete Video/Still Ad Sets</a:t>
            </a:r>
            <a:br/>
            <a:r>
              <a:t>Preis: 2.000 - 5.000 Euro</a:t>
            </a:r>
          </a:p>
        </p:txBody>
      </p:sp>
      <p:sp>
        <p:nvSpPr>
          <p:cNvPr id="14" name="Rounded Rectangle 13"/>
          <p:cNvSpPr/>
          <p:nvPr/>
        </p:nvSpPr>
        <p:spPr>
          <a:xfrm>
            <a:off x="80467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651760"/>
            <a:ext cx="2926080" cy="320040"/>
          </a:xfrm>
          <a:prstGeom prst="rect">
            <a:avLst/>
          </a:prstGeom>
          <a:noFill/>
        </p:spPr>
        <p:txBody>
          <a:bodyPr wrap="square">
            <a:spAutoFit/>
          </a:bodyPr>
          <a:lstStyle/>
          <a:p>
            <a:pPr algn="l">
              <a:defRPr sz="1000" b="0" i="0">
                <a:solidFill>
                  <a:srgbClr val="C8A25A"/>
                </a:solidFill>
                <a:latin typeface="JetBrains Mono"/>
              </a:defRPr>
            </a:pPr>
            <a:r>
              <a:t>PAKET 03</a:t>
            </a:r>
          </a:p>
        </p:txBody>
      </p:sp>
      <p:sp>
        <p:nvSpPr>
          <p:cNvPr id="16" name="TextBox 15"/>
          <p:cNvSpPr txBox="1"/>
          <p:nvPr/>
        </p:nvSpPr>
        <p:spPr>
          <a:xfrm>
            <a:off x="8275320" y="3017520"/>
            <a:ext cx="2926080" cy="731520"/>
          </a:xfrm>
          <a:prstGeom prst="rect">
            <a:avLst/>
          </a:prstGeom>
          <a:noFill/>
        </p:spPr>
        <p:txBody>
          <a:bodyPr wrap="square">
            <a:spAutoFit/>
          </a:bodyPr>
          <a:lstStyle/>
          <a:p>
            <a:pPr algn="l">
              <a:defRPr sz="1800" b="1" i="0">
                <a:solidFill>
                  <a:srgbClr val="F2EFE9"/>
                </a:solidFill>
                <a:latin typeface="Cormorant Garamond"/>
              </a:defRPr>
            </a:pPr>
            <a:r>
              <a:t>Creative Retainer</a:t>
            </a:r>
          </a:p>
        </p:txBody>
      </p:sp>
      <p:sp>
        <p:nvSpPr>
          <p:cNvPr id="17" name="TextBox 16"/>
          <p:cNvSpPr txBox="1"/>
          <p:nvPr/>
        </p:nvSpPr>
        <p:spPr>
          <a:xfrm>
            <a:off x="8275320" y="3840480"/>
            <a:ext cx="2926080" cy="1828800"/>
          </a:xfrm>
          <a:prstGeom prst="rect">
            <a:avLst/>
          </a:prstGeom>
          <a:noFill/>
        </p:spPr>
        <p:txBody>
          <a:bodyPr wrap="square">
            <a:spAutoFit/>
          </a:bodyPr>
          <a:lstStyle/>
          <a:p>
            <a:pPr algn="l">
              <a:defRPr sz="1200" b="0" i="0">
                <a:solidFill>
                  <a:srgbClr val="B8B4AE"/>
                </a:solidFill>
                <a:latin typeface="Inter"/>
              </a:defRPr>
            </a:pPr>
            <a:r>
              <a:t>Monatliche Creative Engine (Tiers S/M/L)</a:t>
            </a:r>
            <a:br/>
            <a:r>
              <a:t>Preis: 2.000 - 15.000 Euro/Monat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C8A25A"/>
                </a:solidFill>
                <a:latin typeface="JetBrains Mono"/>
              </a:defRPr>
            </a:pPr>
            <a:r>
              <a:t>06 · FRONTIER FIRM 4-LAYER</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C8A25A"/>
                </a:solidFill>
                <a:latin typeface="JetBrains Mono"/>
              </a:defRPr>
            </a:pPr>
            <a:r>
              <a:t>SPRECHER: YAHYA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Frontier Firm: 4 Menschen wie 20.</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DIGITALE SYSTEM-SCHICHTEN</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1. Intelligence Layer: Perplexity Spaces &amp; Claude (Strategie)</a:t>
            </a:r>
            <a:br/>
            <a:r>
              <a:t>2. Production Layer: Midjourney &amp; Adobe Creative Cloud</a:t>
            </a:r>
            <a:br/>
            <a:r>
              <a:t>3. Infrastructure Layer: Google Cloud Run &amp; MCP Connectors</a:t>
            </a:r>
            <a:br/>
            <a:r>
              <a:t>4. Performance Layer: Meta Ads Manager, GA4 &amp; Looker</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GITHUB GOVERNANCE</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Das gesamte System wird in einem versionierten GitHub-Repository als Single Source of Truth verwaltet und versioniert. Voller Audit-Trail über Commit-History.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D8D3CB"/>
                </a:solidFill>
                <a:latin typeface="JetBrains Mono"/>
              </a:defRPr>
            </a:pPr>
            <a:r>
              <a:t>07 · PERFECT-TWIN-PRINZIP</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D8D3CB"/>
                </a:solidFill>
                <a:latin typeface="JetBrains Mono"/>
              </a:defRPr>
            </a:pPr>
            <a:r>
              <a:t>SPRECHER: RALPH</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Perfect Twin: Die Mensch-KI-Kopplung</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HUMAN EXPERTISE + AI TWIN</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Jeder Spezialist nutzt ein maßgeschneidertes KI-Gegenstück zur Skalierung.</a:t>
            </a:r>
            <a:br/>
            <a:r>
              <a:t>• Olha (CD) + Midjourney/Firefly</a:t>
            </a:r>
            <a:br/>
            <a:r>
              <a:t>• Denys (Data) + Claude Data Agent</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PROZESS-INTEGRATION</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Ralph (CRM) + HubSpot CRM Automation</a:t>
            </a:r>
            <a:br/>
            <a:r>
              <a:t>• Yahya (Tech) + Claude Code Developer Tools</a:t>
            </a:r>
            <a:br/>
            <a:r>
              <a:t>Das Ergebnis: 5x Zeiteinsparung und absolute Konsistenz im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D8D3CB"/>
                </a:solidFill>
                <a:latin typeface="JetBrains Mono"/>
              </a:defRPr>
            </a:pPr>
            <a:r>
              <a:t>08 · INBOUND SOCIAL SETUP</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D8D3CB"/>
                </a:solidFill>
                <a:latin typeface="JetBrains Mono"/>
              </a:defRPr>
            </a:pPr>
            <a:r>
              <a:t>SPRECHER: RALPH</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Inbound-Routing: Vom Klick zum Lead</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TRAFFIC GENERATION</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LinkedIn: B2B Thought-Leadership Artikel</a:t>
            </a:r>
            <a:br/>
            <a:r>
              <a:t>• Meta/Instagram: Organische und bezahlte Product Visuals</a:t>
            </a:r>
            <a:br/>
            <a:r>
              <a:t>• Facebook: Community &amp; Social Proof</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ROUTING &amp; SCORING</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Prospects landen auf mirrou.studio, füllen das Ad-Spend-Formular aus und werden basierend auf einem automatischen Qualifizierungs-Score direkt geroutet.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E07A5F"/>
                </a:solidFill>
                <a:latin typeface="JetBrains Mono"/>
              </a:defRPr>
            </a:pPr>
            <a:r>
              <a:t>09 · VISUELLE PHILOSOPHIE</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E07A5F"/>
                </a:solidFill>
                <a:latin typeface="JetBrains Mono"/>
              </a:defRPr>
            </a:pPr>
            <a:r>
              <a:t>SPRECHER: OLHA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Visuelle Philosophie: Aesthetik + Conversion</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ALGORITHM OF SOUL</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Wir brechen mit dem typischen, hellen Beauty-Markt. Dark Luxury erzeugt visuelle Unterbrechung im Scroll-Feed.</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DESIGN RULES FOR PERFORMANCE</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Low-Key Beleuchtung: Produkt plastisch im Fokus</a:t>
            </a:r>
            <a:br/>
            <a:r>
              <a:t>• Minimaler Textanteil: Schnelle Erfassung und Ladezeiten</a:t>
            </a:r>
            <a:br/>
            <a:r>
              <a:t>• Fokus: Makro-Texturen von Haut und Flüssigkeiten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E07A5F"/>
                </a:solidFill>
                <a:latin typeface="JetBrains Mono"/>
              </a:defRPr>
            </a:pPr>
            <a:r>
              <a:t>10 · BRAND IDENTITY TOKENS</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E07A5F"/>
                </a:solidFill>
                <a:latin typeface="JetBrains Mono"/>
              </a:defRPr>
            </a:pPr>
            <a:r>
              <a:t>SPRECHER: OLHA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Brand Identity Tokens</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651760"/>
            <a:ext cx="2926080" cy="320040"/>
          </a:xfrm>
          <a:prstGeom prst="rect">
            <a:avLst/>
          </a:prstGeom>
          <a:noFill/>
        </p:spPr>
        <p:txBody>
          <a:bodyPr wrap="square">
            <a:spAutoFit/>
          </a:bodyPr>
          <a:lstStyle/>
          <a:p>
            <a:pPr algn="l">
              <a:defRPr sz="1000" b="0" i="0">
                <a:solidFill>
                  <a:srgbClr val="C8A25A"/>
                </a:solidFill>
                <a:latin typeface="JetBrains Mono"/>
              </a:defRPr>
            </a:pPr>
            <a:r>
              <a:t>FARBTAPETE</a:t>
            </a:r>
          </a:p>
        </p:txBody>
      </p:sp>
      <p:sp>
        <p:nvSpPr>
          <p:cNvPr id="8" name="TextBox 7"/>
          <p:cNvSpPr txBox="1"/>
          <p:nvPr/>
        </p:nvSpPr>
        <p:spPr>
          <a:xfrm>
            <a:off x="960120" y="3017520"/>
            <a:ext cx="2926080" cy="731520"/>
          </a:xfrm>
          <a:prstGeom prst="rect">
            <a:avLst/>
          </a:prstGeom>
          <a:noFill/>
        </p:spPr>
        <p:txBody>
          <a:bodyPr wrap="square">
            <a:spAutoFit/>
          </a:bodyPr>
          <a:lstStyle/>
          <a:p>
            <a:pPr algn="l">
              <a:defRPr sz="1800" b="1" i="0">
                <a:solidFill>
                  <a:srgbClr val="F2EFE9"/>
                </a:solidFill>
                <a:latin typeface="Cormorant Garamond"/>
              </a:defRPr>
            </a:pPr>
            <a:r>
              <a:t>Deep Onyx</a:t>
            </a:r>
          </a:p>
        </p:txBody>
      </p:sp>
      <p:sp>
        <p:nvSpPr>
          <p:cNvPr id="9" name="TextBox 8"/>
          <p:cNvSpPr txBox="1"/>
          <p:nvPr/>
        </p:nvSpPr>
        <p:spPr>
          <a:xfrm>
            <a:off x="960120" y="3840480"/>
            <a:ext cx="2926080" cy="1828800"/>
          </a:xfrm>
          <a:prstGeom prst="rect">
            <a:avLst/>
          </a:prstGeom>
          <a:noFill/>
        </p:spPr>
        <p:txBody>
          <a:bodyPr wrap="square">
            <a:spAutoFit/>
          </a:bodyPr>
          <a:lstStyle/>
          <a:p>
            <a:pPr algn="l">
              <a:defRPr sz="1200" b="0" i="0">
                <a:solidFill>
                  <a:srgbClr val="B8B4AE"/>
                </a:solidFill>
                <a:latin typeface="Inter"/>
              </a:defRPr>
            </a:pPr>
            <a:r>
              <a:t>#080808 / #0A0A0A</a:t>
            </a:r>
            <a:br/>
            <a:r>
              <a:t>Erzeugt edle visuelle Ruhe</a:t>
            </a:r>
          </a:p>
        </p:txBody>
      </p:sp>
      <p:sp>
        <p:nvSpPr>
          <p:cNvPr id="10" name="Rounded Rectangle 9"/>
          <p:cNvSpPr/>
          <p:nvPr/>
        </p:nvSpPr>
        <p:spPr>
          <a:xfrm>
            <a:off x="43891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651760"/>
            <a:ext cx="2926080" cy="320040"/>
          </a:xfrm>
          <a:prstGeom prst="rect">
            <a:avLst/>
          </a:prstGeom>
          <a:noFill/>
        </p:spPr>
        <p:txBody>
          <a:bodyPr wrap="square">
            <a:spAutoFit/>
          </a:bodyPr>
          <a:lstStyle/>
          <a:p>
            <a:pPr algn="l">
              <a:defRPr sz="1000" b="0" i="0">
                <a:solidFill>
                  <a:srgbClr val="C8A25A"/>
                </a:solidFill>
                <a:latin typeface="JetBrains Mono"/>
              </a:defRPr>
            </a:pPr>
            <a:r>
              <a:t>AKZENT</a:t>
            </a:r>
          </a:p>
        </p:txBody>
      </p:sp>
      <p:sp>
        <p:nvSpPr>
          <p:cNvPr id="12" name="TextBox 11"/>
          <p:cNvSpPr txBox="1"/>
          <p:nvPr/>
        </p:nvSpPr>
        <p:spPr>
          <a:xfrm>
            <a:off x="4617720" y="3017520"/>
            <a:ext cx="2926080" cy="731520"/>
          </a:xfrm>
          <a:prstGeom prst="rect">
            <a:avLst/>
          </a:prstGeom>
          <a:noFill/>
        </p:spPr>
        <p:txBody>
          <a:bodyPr wrap="square">
            <a:spAutoFit/>
          </a:bodyPr>
          <a:lstStyle/>
          <a:p>
            <a:pPr algn="l">
              <a:defRPr sz="1800" b="1" i="0">
                <a:solidFill>
                  <a:srgbClr val="F2EFE9"/>
                </a:solidFill>
                <a:latin typeface="Cormorant Garamond"/>
              </a:defRPr>
            </a:pPr>
            <a:r>
              <a:t>Muted Gold</a:t>
            </a:r>
          </a:p>
        </p:txBody>
      </p:sp>
      <p:sp>
        <p:nvSpPr>
          <p:cNvPr id="13" name="TextBox 12"/>
          <p:cNvSpPr txBox="1"/>
          <p:nvPr/>
        </p:nvSpPr>
        <p:spPr>
          <a:xfrm>
            <a:off x="4617720" y="3840480"/>
            <a:ext cx="2926080" cy="1828800"/>
          </a:xfrm>
          <a:prstGeom prst="rect">
            <a:avLst/>
          </a:prstGeom>
          <a:noFill/>
        </p:spPr>
        <p:txBody>
          <a:bodyPr wrap="square">
            <a:spAutoFit/>
          </a:bodyPr>
          <a:lstStyle/>
          <a:p>
            <a:pPr algn="l">
              <a:defRPr sz="1200" b="0" i="0">
                <a:solidFill>
                  <a:srgbClr val="B8B4AE"/>
                </a:solidFill>
                <a:latin typeface="Inter"/>
              </a:defRPr>
            </a:pPr>
            <a:r>
              <a:t>#C8A25A</a:t>
            </a:r>
            <a:br/>
            <a:r>
              <a:t>Filigran und edel</a:t>
            </a:r>
          </a:p>
        </p:txBody>
      </p:sp>
      <p:sp>
        <p:nvSpPr>
          <p:cNvPr id="14" name="Rounded Rectangle 13"/>
          <p:cNvSpPr/>
          <p:nvPr/>
        </p:nvSpPr>
        <p:spPr>
          <a:xfrm>
            <a:off x="80467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651760"/>
            <a:ext cx="2926080" cy="320040"/>
          </a:xfrm>
          <a:prstGeom prst="rect">
            <a:avLst/>
          </a:prstGeom>
          <a:noFill/>
        </p:spPr>
        <p:txBody>
          <a:bodyPr wrap="square">
            <a:spAutoFit/>
          </a:bodyPr>
          <a:lstStyle/>
          <a:p>
            <a:pPr algn="l">
              <a:defRPr sz="1000" b="0" i="0">
                <a:solidFill>
                  <a:srgbClr val="C8A25A"/>
                </a:solidFill>
                <a:latin typeface="JetBrains Mono"/>
              </a:defRPr>
            </a:pPr>
            <a:r>
              <a:t>KONTRAST</a:t>
            </a:r>
          </a:p>
        </p:txBody>
      </p:sp>
      <p:sp>
        <p:nvSpPr>
          <p:cNvPr id="16" name="TextBox 15"/>
          <p:cNvSpPr txBox="1"/>
          <p:nvPr/>
        </p:nvSpPr>
        <p:spPr>
          <a:xfrm>
            <a:off x="8275320" y="3017520"/>
            <a:ext cx="2926080" cy="731520"/>
          </a:xfrm>
          <a:prstGeom prst="rect">
            <a:avLst/>
          </a:prstGeom>
          <a:noFill/>
        </p:spPr>
        <p:txBody>
          <a:bodyPr wrap="square">
            <a:spAutoFit/>
          </a:bodyPr>
          <a:lstStyle/>
          <a:p>
            <a:pPr algn="l">
              <a:defRPr sz="1800" b="1" i="0">
                <a:solidFill>
                  <a:srgbClr val="F2EFE9"/>
                </a:solidFill>
                <a:latin typeface="Cormorant Garamond"/>
              </a:defRPr>
            </a:pPr>
            <a:r>
              <a:t>Warm Ivory</a:t>
            </a:r>
          </a:p>
        </p:txBody>
      </p:sp>
      <p:sp>
        <p:nvSpPr>
          <p:cNvPr id="17" name="TextBox 16"/>
          <p:cNvSpPr txBox="1"/>
          <p:nvPr/>
        </p:nvSpPr>
        <p:spPr>
          <a:xfrm>
            <a:off x="8275320" y="3840480"/>
            <a:ext cx="2926080" cy="1828800"/>
          </a:xfrm>
          <a:prstGeom prst="rect">
            <a:avLst/>
          </a:prstGeom>
          <a:noFill/>
        </p:spPr>
        <p:txBody>
          <a:bodyPr wrap="square">
            <a:spAutoFit/>
          </a:bodyPr>
          <a:lstStyle/>
          <a:p>
            <a:pPr algn="l">
              <a:defRPr sz="1200" b="0" i="0">
                <a:solidFill>
                  <a:srgbClr val="B8B4AE"/>
                </a:solidFill>
                <a:latin typeface="Inter"/>
              </a:defRPr>
            </a:pPr>
            <a:r>
              <a:t>#F2EFE9</a:t>
            </a:r>
            <a:br/>
            <a:r>
              <a:t>Optimale Lesbarkeit und Eleganz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E07A5F"/>
                </a:solidFill>
                <a:latin typeface="JetBrains Mono"/>
              </a:defRPr>
            </a:pPr>
            <a:r>
              <a:t>11 · BRANDBOOK &amp; RULES</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E07A5F"/>
                </a:solidFill>
                <a:latin typeface="JetBrains Mono"/>
              </a:defRPr>
            </a:pPr>
            <a:r>
              <a:t>SPRECHER: OLHA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49-seitiges Brandbook fuer Konsistenz</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REGELN FÜR DIE KREATION</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Grid-Systeme und Bildkomposition</a:t>
            </a:r>
            <a:br/>
            <a:r>
              <a:t>• Beleuchtungswinkel und Schattenkanten</a:t>
            </a:r>
            <a:br/>
            <a:r>
              <a:t>• Richtlinien für KI-Prompts und Seed-Consistency</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DO'S &amp; DON'TS</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Do: Produkt steht immer im echten Fotomittelpunkt</a:t>
            </a:r>
            <a:br/>
            <a:r>
              <a:t>• Don't: Überladene Banner, bunte Overlays, künstliche Gesichter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E07A5F"/>
                </a:solidFill>
                <a:latin typeface="JetBrains Mono"/>
              </a:defRPr>
            </a:pPr>
            <a:r>
              <a:t>12 · DEMO CASE 1: SKINCARE</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E07A5F"/>
                </a:solidFill>
                <a:latin typeface="JetBrains Mono"/>
              </a:defRPr>
            </a:pPr>
            <a:r>
              <a:t>SPRECHER: OLHA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Demo Case 1: Luminous Aura</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DAS PRODUKT IM FOKUS</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Premium-Serum auf weißem Marmor. Minimales Design, kontrastierende Details. Weicher Goldstaub symbolisiert Luxus.</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PERFORMANCE METRIK (SIMULIERT)</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Kanal: Meta Feed (Instagram/Facebook)</a:t>
            </a:r>
            <a:br/>
            <a:r>
              <a:t>• A/B-Test: +82% CTR Steigerung vs. Standard-Studio</a:t>
            </a:r>
            <a:br/>
            <a:r>
              <a:t>• Conversion Rate: Signifikant erhöht durch Premium-Trust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E07A5F"/>
                </a:solidFill>
                <a:latin typeface="JetBrains Mono"/>
              </a:defRPr>
            </a:pPr>
            <a:r>
              <a:t>13 · DEMO CASES 2 &amp; 3: MOTION</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E07A5F"/>
                </a:solidFill>
                <a:latin typeface="JetBrains Mono"/>
              </a:defRPr>
            </a:pPr>
            <a:r>
              <a:t>SPRECHER: OLHA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Demo Cases: Motion &amp; Emotion</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CASE 2: VITALITY PULSE (TIKTOK)</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Kinetische Energie, Wassertropfen, harte Schatten. Optimiert auf die ersten 3 Sekunden (Thumb-Stop-Hooks).</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CASE 3: ESSENCE DRIFT (REELS/PINTEREST)</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Nebel, Glasspiegelungen, emotionale Tonalität. Fokus auf Fragrance-Storytelling und Customer Desire.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E07A5F"/>
                </a:solidFill>
                <a:latin typeface="JetBrains Mono"/>
              </a:defRPr>
            </a:pPr>
            <a:r>
              <a:t>14 · DEMO CASE 4: KI BIOTECH</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E07A5F"/>
                </a:solidFill>
                <a:latin typeface="JetBrains Mono"/>
              </a:defRPr>
            </a:pPr>
            <a:r>
              <a:t>SPRECHER: OLHA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Demo Case 4: Neural Glow (100% KI)</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SYNTHETISCHE WELTEN</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Biotech-orientierte Skincare visualisiert über fluoreszierende Schaltkreise. Vollständig digital gerendert.</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EU AI ACT READY</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Kryptografische C2PA-Metadaten in der Datei eingebettet</a:t>
            </a:r>
            <a:br/>
            <a:r>
              <a:t>• Rechtssichere Transparenzkennzeichnung nach Art. 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E07A5F"/>
                </a:solidFill>
                <a:latin typeface="JetBrains Mono"/>
              </a:defRPr>
            </a:pPr>
            <a:r>
              <a:t>15 · HYBRID WORKFLOW FLOW</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E07A5F"/>
                </a:solidFill>
                <a:latin typeface="JetBrains Mono"/>
              </a:defRPr>
            </a:pPr>
            <a:r>
              <a:t>SPRECHER: OLHA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Hybrid Production Workflow</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01. ECHTE FOTOGRAFIE (HAMBURG)</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Das physische Produkt, Texturen und Flakon werden real im Studio fotografiert. Keine KI-Verfälschung des Kernprodukts.</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02. DIGITAL COMPOSING (KI)</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Hintergründe, Lichtstimmungen und Reflektionen werden per Midjourney/Firefly generiert und fotorealistisch verschmolzen.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E07A5F"/>
                </a:solidFill>
                <a:latin typeface="JetBrains Mono"/>
              </a:defRPr>
            </a:pPr>
            <a:r>
              <a:t>16 · WORKFLOW EFFIZIENZ-BEWEIS</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E07A5F"/>
                </a:solidFill>
                <a:latin typeface="JetBrains Mono"/>
              </a:defRPr>
            </a:pPr>
            <a:r>
              <a:t>SPRECHER: OLHA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Hybrid Production Effizienz-Beweis</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KLASSISCHES STUDIO-SHOOTING</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Set-Bau, Studio-Miete, Fotografen, Retusche</a:t>
            </a:r>
            <a:br/>
            <a:r>
              <a:t>• Aufwand: ca. 144 Std. (6 Tage)</a:t>
            </a:r>
            <a:br/>
            <a:r>
              <a:t>• Starre Setups, keine schnellen Änderungen möglich</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MIRROU HYBRID SHOOTING</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Einmaliges Produkt-Shooting + KI-Composing</a:t>
            </a:r>
            <a:br/>
            <a:r>
              <a:t>• Aufwand: ca. 4 Std. (Digitale Pipeline)</a:t>
            </a:r>
            <a:br/>
            <a:r>
              <a:t>• Zeit- und Kostenersparnis: über 97%</a:t>
            </a:r>
            <a:br/>
            <a:r>
              <a:t>• Skalierbarkeit: Unbegrenzt viele Hintergründe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4A90E2"/>
                </a:solidFill>
                <a:latin typeface="JetBrains Mono"/>
              </a:defRPr>
            </a:pPr>
            <a:r>
              <a:t>17 · PERFORMANCE &amp; QFC</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4A90E2"/>
                </a:solidFill>
                <a:latin typeface="JetBrains Mono"/>
              </a:defRPr>
            </a:pPr>
            <a:r>
              <a:t>SPRECHER: DENYS</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Performance: Qualified Future Conversions</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BEYOND HISTORICAL DATA</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Klassische Performance-Optimierung blickt zurück. Mirrou blickt nach vorn über GML 2026 QFC-Modellierung.</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QUALIFIED FUTURE CONVERSIONS (QFC)</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Gemini-gestützte Predictive Engine verknüpft frühe Nutzersignale (z. B. Video-Views) mit zukünftigen Käufen (bis zu 6 Monate).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4A90E2"/>
                </a:solidFill>
                <a:latin typeface="JetBrains Mono"/>
              </a:defRPr>
            </a:pPr>
            <a:r>
              <a:t>18 · MEDIABUDGET DONUT SPLIT</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4A90E2"/>
                </a:solidFill>
                <a:latin typeface="JetBrains Mono"/>
              </a:defRPr>
            </a:pPr>
            <a:r>
              <a:t>SPRECHER: DENYS</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Mediabudget: 5 Kanaele im Fokus</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STRATEGISCHE BUDGETVERTEILUNG</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Meta Ads: 40% (Kombination Reels &amp; Still Ads)</a:t>
            </a:r>
            <a:br/>
            <a:r>
              <a:t>• TikTok Ads: 25% (Kinetische Video-Hooks)</a:t>
            </a:r>
            <a:br/>
            <a:r>
              <a:t>• Google Search: 20% (Conversion-Sicherung)</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RETENTION &amp; TRUST</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Email Marketing: 10% (Reaktivierung, CLV)</a:t>
            </a:r>
            <a:br/>
            <a:r>
              <a:t>• LinkedIn: 5% (B2B Authority &amp; Trust)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4A90E2"/>
                </a:solidFill>
                <a:latin typeface="JetBrains Mono"/>
              </a:defRPr>
            </a:pPr>
            <a:r>
              <a:t>19 · LEITMETRIKEN &amp; KANÄLE</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4A90E2"/>
                </a:solidFill>
                <a:latin typeface="JetBrains Mono"/>
              </a:defRPr>
            </a:pPr>
            <a:r>
              <a:t>SPRECHER: DENYS</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Kanalspezifische Leitmetriken</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META &amp; TIKTOK LEITMETRIKEN</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Meta: Klickrate (CTR) — Ziel &gt;1.5%</a:t>
            </a:r>
            <a:br/>
            <a:r>
              <a:t>• TikTok: Thumb-Stop Rate (3s View) — Ziel &gt;35%</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SEARCH &amp; RETENTION</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Google Search: Return on Ad Spend (ROAS) &amp; CPA</a:t>
            </a:r>
            <a:br/>
            <a:r>
              <a:t>• Email Marketing: Conversion Rate &amp; Customer Lifetime Value (CLV)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4A90E2"/>
                </a:solidFill>
                <a:latin typeface="JetBrains Mono"/>
              </a:defRPr>
            </a:pPr>
            <a:r>
              <a:t>20 · DATEN-FEEDBACK LOOP</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4A90E2"/>
                </a:solidFill>
                <a:latin typeface="JetBrains Mono"/>
              </a:defRPr>
            </a:pPr>
            <a:r>
              <a:t>SPRECHER: DENYS</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Datenkreislauf: 5-Schritt-Algorithmus</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VOM AUDIT ZUR SKALIERUNG</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1. Creative Audit: Erkennung von Fatigue und CPC-Spikes</a:t>
            </a:r>
            <a:br/>
            <a:r>
              <a:t>2. Hypothesen: Formulierung von 3 Test-Winkeln</a:t>
            </a:r>
            <a:br/>
            <a:r>
              <a:t>3. Umsetzung: Hybrid Production durch Olha</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TESTEN &amp; LERNEN</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4. Performance Layer: Isolierter A/B-Test (5-Tage)</a:t>
            </a:r>
            <a:br/>
            <a:r>
              <a:t>5. Feedback Loop: CTR-Daten fließen zurück in Creative Engine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4A90E2"/>
                </a:solidFill>
                <a:latin typeface="JetBrains Mono"/>
              </a:defRPr>
            </a:pPr>
            <a:r>
              <a:t>21 · TESTING MATRIX WINKEL</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4A90E2"/>
                </a:solidFill>
                <a:latin typeface="JetBrains Mono"/>
              </a:defRPr>
            </a:pPr>
            <a:r>
              <a:t>SPRECHER: DENYS</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Creative Testing Matrix</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TEST-WINKEL 1 &amp; 2</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Craft (Inhaltsstoffe): Fokus auf Makro-Produktaufnahmen</a:t>
            </a:r>
            <a:br/>
            <a:r>
              <a:t>• Data (Wissenschaft): Einblendung von Studien &amp; Nachweisen</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TEST-WINKEL 3 &amp; 4</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Luxury (Status/Brand): Dunkles, cleanes Premium-Styling</a:t>
            </a:r>
            <a:br/>
            <a:r>
              <a:t>• Results (Ergebnis): Sichtbarer Vorher-Nachher Effekt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4A90E2"/>
                </a:solidFill>
                <a:latin typeface="JetBrains Mono"/>
              </a:defRPr>
            </a:pPr>
            <a:r>
              <a:t>22 · 25-TAGE TESTPLAN SPRINTS</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4A90E2"/>
                </a:solidFill>
                <a:latin typeface="JetBrains Mono"/>
              </a:defRPr>
            </a:pPr>
            <a:r>
              <a:t>SPRECHER: DENYS</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25-Tage Testplan Sprints</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651760"/>
            <a:ext cx="2926080" cy="320040"/>
          </a:xfrm>
          <a:prstGeom prst="rect">
            <a:avLst/>
          </a:prstGeom>
          <a:noFill/>
        </p:spPr>
        <p:txBody>
          <a:bodyPr wrap="square">
            <a:spAutoFit/>
          </a:bodyPr>
          <a:lstStyle/>
          <a:p>
            <a:pPr algn="l">
              <a:defRPr sz="1000" b="0" i="0">
                <a:solidFill>
                  <a:srgbClr val="C8A25A"/>
                </a:solidFill>
                <a:latin typeface="JetBrains Mono"/>
              </a:defRPr>
            </a:pPr>
            <a:r>
              <a:t>SPRINT 1 (TAG 1-8)</a:t>
            </a:r>
          </a:p>
        </p:txBody>
      </p:sp>
      <p:sp>
        <p:nvSpPr>
          <p:cNvPr id="8" name="TextBox 7"/>
          <p:cNvSpPr txBox="1"/>
          <p:nvPr/>
        </p:nvSpPr>
        <p:spPr>
          <a:xfrm>
            <a:off x="960120" y="3017520"/>
            <a:ext cx="2926080" cy="731520"/>
          </a:xfrm>
          <a:prstGeom prst="rect">
            <a:avLst/>
          </a:prstGeom>
          <a:noFill/>
        </p:spPr>
        <p:txBody>
          <a:bodyPr wrap="square">
            <a:spAutoFit/>
          </a:bodyPr>
          <a:lstStyle/>
          <a:p>
            <a:pPr algn="l">
              <a:defRPr sz="1800" b="1" i="0">
                <a:solidFill>
                  <a:srgbClr val="F2EFE9"/>
                </a:solidFill>
                <a:latin typeface="Cormorant Garamond"/>
              </a:defRPr>
            </a:pPr>
            <a:r>
              <a:t>Baseline</a:t>
            </a:r>
          </a:p>
        </p:txBody>
      </p:sp>
      <p:sp>
        <p:nvSpPr>
          <p:cNvPr id="9" name="TextBox 8"/>
          <p:cNvSpPr txBox="1"/>
          <p:nvPr/>
        </p:nvSpPr>
        <p:spPr>
          <a:xfrm>
            <a:off x="960120" y="3840480"/>
            <a:ext cx="2926080" cy="1828800"/>
          </a:xfrm>
          <a:prstGeom prst="rect">
            <a:avLst/>
          </a:prstGeom>
          <a:noFill/>
        </p:spPr>
        <p:txBody>
          <a:bodyPr wrap="square">
            <a:spAutoFit/>
          </a:bodyPr>
          <a:lstStyle/>
          <a:p>
            <a:pPr algn="l">
              <a:defRPr sz="1200" b="0" i="0">
                <a:solidFill>
                  <a:srgbClr val="B8B4AE"/>
                </a:solidFill>
                <a:latin typeface="Inter"/>
              </a:defRPr>
            </a:pPr>
            <a:r>
              <a:t>Pixel-Einrichtung</a:t>
            </a:r>
            <a:br/>
            <a:r>
              <a:t>Targeting Definition</a:t>
            </a:r>
            <a:br/>
            <a:r>
              <a:t>Erfassung Benchmark CTR</a:t>
            </a:r>
          </a:p>
        </p:txBody>
      </p:sp>
      <p:sp>
        <p:nvSpPr>
          <p:cNvPr id="10" name="Rounded Rectangle 9"/>
          <p:cNvSpPr/>
          <p:nvPr/>
        </p:nvSpPr>
        <p:spPr>
          <a:xfrm>
            <a:off x="43891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651760"/>
            <a:ext cx="2926080" cy="320040"/>
          </a:xfrm>
          <a:prstGeom prst="rect">
            <a:avLst/>
          </a:prstGeom>
          <a:noFill/>
        </p:spPr>
        <p:txBody>
          <a:bodyPr wrap="square">
            <a:spAutoFit/>
          </a:bodyPr>
          <a:lstStyle/>
          <a:p>
            <a:pPr algn="l">
              <a:defRPr sz="1000" b="0" i="0">
                <a:solidFill>
                  <a:srgbClr val="C8A25A"/>
                </a:solidFill>
                <a:latin typeface="JetBrains Mono"/>
              </a:defRPr>
            </a:pPr>
            <a:r>
              <a:t>SPRINT 2 (TAG 9-16)</a:t>
            </a:r>
          </a:p>
        </p:txBody>
      </p:sp>
      <p:sp>
        <p:nvSpPr>
          <p:cNvPr id="12" name="TextBox 11"/>
          <p:cNvSpPr txBox="1"/>
          <p:nvPr/>
        </p:nvSpPr>
        <p:spPr>
          <a:xfrm>
            <a:off x="4617720" y="3017520"/>
            <a:ext cx="2926080" cy="731520"/>
          </a:xfrm>
          <a:prstGeom prst="rect">
            <a:avLst/>
          </a:prstGeom>
          <a:noFill/>
        </p:spPr>
        <p:txBody>
          <a:bodyPr wrap="square">
            <a:spAutoFit/>
          </a:bodyPr>
          <a:lstStyle/>
          <a:p>
            <a:pPr algn="l">
              <a:defRPr sz="1800" b="1" i="0">
                <a:solidFill>
                  <a:srgbClr val="F2EFE9"/>
                </a:solidFill>
                <a:latin typeface="Cormorant Garamond"/>
              </a:defRPr>
            </a:pPr>
            <a:r>
              <a:t>A/B Testing</a:t>
            </a:r>
          </a:p>
        </p:txBody>
      </p:sp>
      <p:sp>
        <p:nvSpPr>
          <p:cNvPr id="13" name="TextBox 12"/>
          <p:cNvSpPr txBox="1"/>
          <p:nvPr/>
        </p:nvSpPr>
        <p:spPr>
          <a:xfrm>
            <a:off x="4617720" y="3840480"/>
            <a:ext cx="2926080" cy="1828800"/>
          </a:xfrm>
          <a:prstGeom prst="rect">
            <a:avLst/>
          </a:prstGeom>
          <a:noFill/>
        </p:spPr>
        <p:txBody>
          <a:bodyPr wrap="square">
            <a:spAutoFit/>
          </a:bodyPr>
          <a:lstStyle/>
          <a:p>
            <a:pPr algn="l">
              <a:defRPr sz="1200" b="0" i="0">
                <a:solidFill>
                  <a:srgbClr val="B8B4AE"/>
                </a:solidFill>
                <a:latin typeface="Inter"/>
              </a:defRPr>
            </a:pPr>
            <a:r>
              <a:t>Start A/B-Tests</a:t>
            </a:r>
            <a:br/>
            <a:r>
              <a:t>14-Tage Hook-Iterationen</a:t>
            </a:r>
            <a:br/>
            <a:r>
              <a:t>Landingpage Optimierung</a:t>
            </a:r>
          </a:p>
        </p:txBody>
      </p:sp>
      <p:sp>
        <p:nvSpPr>
          <p:cNvPr id="14" name="Rounded Rectangle 13"/>
          <p:cNvSpPr/>
          <p:nvPr/>
        </p:nvSpPr>
        <p:spPr>
          <a:xfrm>
            <a:off x="8046720" y="2377440"/>
            <a:ext cx="3383280" cy="3474720"/>
          </a:xfrm>
          <a:prstGeom prst="roundRect">
            <a:avLst/>
          </a:prstGeom>
          <a:solidFill>
            <a:srgbClr val="111113"/>
          </a:solidFill>
          <a:ln w="6350">
            <a:solidFill>
              <a:srgbClr val="6E6B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651760"/>
            <a:ext cx="2926080" cy="320040"/>
          </a:xfrm>
          <a:prstGeom prst="rect">
            <a:avLst/>
          </a:prstGeom>
          <a:noFill/>
        </p:spPr>
        <p:txBody>
          <a:bodyPr wrap="square">
            <a:spAutoFit/>
          </a:bodyPr>
          <a:lstStyle/>
          <a:p>
            <a:pPr algn="l">
              <a:defRPr sz="1000" b="0" i="0">
                <a:solidFill>
                  <a:srgbClr val="C8A25A"/>
                </a:solidFill>
                <a:latin typeface="JetBrains Mono"/>
              </a:defRPr>
            </a:pPr>
            <a:r>
              <a:t>SPRINT 3 (TAG 17-25)</a:t>
            </a:r>
          </a:p>
        </p:txBody>
      </p:sp>
      <p:sp>
        <p:nvSpPr>
          <p:cNvPr id="16" name="TextBox 15"/>
          <p:cNvSpPr txBox="1"/>
          <p:nvPr/>
        </p:nvSpPr>
        <p:spPr>
          <a:xfrm>
            <a:off x="8275320" y="3017520"/>
            <a:ext cx="2926080" cy="731520"/>
          </a:xfrm>
          <a:prstGeom prst="rect">
            <a:avLst/>
          </a:prstGeom>
          <a:noFill/>
        </p:spPr>
        <p:txBody>
          <a:bodyPr wrap="square">
            <a:spAutoFit/>
          </a:bodyPr>
          <a:lstStyle/>
          <a:p>
            <a:pPr algn="l">
              <a:defRPr sz="1800" b="1" i="0">
                <a:solidFill>
                  <a:srgbClr val="F2EFE9"/>
                </a:solidFill>
                <a:latin typeface="Cormorant Garamond"/>
              </a:defRPr>
            </a:pPr>
            <a:r>
              <a:t>Scaling</a:t>
            </a:r>
          </a:p>
        </p:txBody>
      </p:sp>
      <p:sp>
        <p:nvSpPr>
          <p:cNvPr id="17" name="TextBox 16"/>
          <p:cNvSpPr txBox="1"/>
          <p:nvPr/>
        </p:nvSpPr>
        <p:spPr>
          <a:xfrm>
            <a:off x="8275320" y="3840480"/>
            <a:ext cx="2926080" cy="1828800"/>
          </a:xfrm>
          <a:prstGeom prst="rect">
            <a:avLst/>
          </a:prstGeom>
          <a:noFill/>
        </p:spPr>
        <p:txBody>
          <a:bodyPr wrap="square">
            <a:spAutoFit/>
          </a:bodyPr>
          <a:lstStyle/>
          <a:p>
            <a:pPr algn="l">
              <a:defRPr sz="1200" b="0" i="0">
                <a:solidFill>
                  <a:srgbClr val="B8B4AE"/>
                </a:solidFill>
                <a:latin typeface="Inter"/>
              </a:defRPr>
            </a:pPr>
            <a:r>
              <a:t>Budget-Allokation auf Gewinner-Ads</a:t>
            </a:r>
            <a:br/>
            <a:r>
              <a:t>Erschließung Lookalike-Audiences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4A90E2"/>
                </a:solidFill>
                <a:latin typeface="JetBrains Mono"/>
              </a:defRPr>
            </a:pPr>
            <a:r>
              <a:t>23 · AUTOMATED RULES ENGINE</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4A90E2"/>
                </a:solidFill>
                <a:latin typeface="JetBrains Mono"/>
              </a:defRPr>
            </a:pPr>
            <a:r>
              <a:t>SPRECHER: DENYS</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Automated Rules Engine</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IF-THIS-THEN-THAT BUDGETSTEUERUNG</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Menschliche Fehler und Verzögerungen beim Media Buying werden durch programmierte Kampagnen-Regeln eliminiert.</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REALE REGEL-ANWEISUNGEN</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Regel 1: CTR &lt; 1,5% nach 3 Tagen → Ad stopp &amp; Hook-Austausch</a:t>
            </a:r>
            <a:br/>
            <a:r>
              <a:t>• Regel 2: CPL &lt; 12 Euro → Erhöhe Budget um 25% pro Tag</a:t>
            </a:r>
            <a:br/>
            <a:r>
              <a:t>• Regel 3: Frequenz &gt; 4.5 → Führe neue Design-Variante ein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4A90E2"/>
                </a:solidFill>
                <a:latin typeface="JetBrains Mono"/>
              </a:defRPr>
            </a:pPr>
            <a:r>
              <a:t>24 · LEARNING LOG &amp; COLUMNA</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4A90E2"/>
                </a:solidFill>
                <a:latin typeface="JetBrains Mono"/>
              </a:defRPr>
            </a:pPr>
            <a:r>
              <a:t>SPRECHER: DENYS</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Creative Learning Log &amp; Columna</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KNOWLEDGE MANAGEMENT</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Creative Learning Log: Archivierung aller A/B-Testergebnisse</a:t>
            </a:r>
            <a:br/>
            <a:r>
              <a:t>• Vermeidung von wiederholten Fehlern bei Ad-Iterations</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COMPETITIVE INTELLIGENCE</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OMM Columna scannt kontinuierlich Wettbewerber-Ads im Beauty-Sektor. Früherkennung von Trends und Hook-Varianten.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D8D3CB"/>
                </a:solidFill>
                <a:latin typeface="JetBrains Mono"/>
              </a:defRPr>
            </a:pPr>
            <a:r>
              <a:t>25 · OPERATIONS PHILOSOPHY</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D8D3CB"/>
                </a:solidFill>
                <a:latin typeface="JetBrains Mono"/>
              </a:defRPr>
            </a:pPr>
            <a:r>
              <a:t>SPRECHER: RALPH</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Customer Operations Philosophy</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ZERO-ERROR OPERATIONS</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Standardisierung schlägt kreatives Chaos. Strukturierter HubSpot &amp; Notion Setup minimiert Kommunikations-Reibung.</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TAKTE DER KOMMUNIKATION</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Lead Response Zeit: Unter 15 Minuten</a:t>
            </a:r>
            <a:br/>
            <a:r>
              <a:t>• Reporting Rhythmus: Wöchentliche Looker-Updates</a:t>
            </a:r>
            <a:br/>
            <a:r>
              <a:t>• Übergabe-Prozedere der Assets: Standardisierter Drive Link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D8D3CB"/>
                </a:solidFill>
                <a:latin typeface="JetBrains Mono"/>
              </a:defRPr>
            </a:pPr>
            <a:r>
              <a:t>26 · INBOUND &amp; OUTBOUND PATHS</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D8D3CB"/>
                </a:solidFill>
                <a:latin typeface="JetBrains Mono"/>
              </a:defRPr>
            </a:pPr>
            <a:r>
              <a:t>SPRECHER: RALPH</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Customer Journeys: Inbound &amp; Outbound</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INBOUND JOURNEY</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Ad-Klick → mirrou.studio Landingpage → Qualifizierungsformular → Calendly Buchung → Live-Pitch &amp; Audit</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OUTBOUND JOURNEY</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Wettbewerber Ad Library Research → Ralph erstellt 90s Video-Audit → Outreach via LinkedIn → Test-Shootings-Retainer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D8D3CB"/>
                </a:solidFill>
                <a:latin typeface="JetBrains Mono"/>
              </a:defRPr>
            </a:pPr>
            <a:r>
              <a:t>27 · HUBSPOT CRM PIPELINE</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D8D3CB"/>
                </a:solidFill>
                <a:latin typeface="JetBrains Mono"/>
              </a:defRPr>
            </a:pPr>
            <a:r>
              <a:t>SPRECHER: RALPH</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HubSpot CRM Pipeline</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7 OPERATIVE PIPELINE-STUFEN</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1. 01 Inbound Lead</a:t>
            </a:r>
            <a:br/>
            <a:r>
              <a:t>2. 02 Intro Call Booked</a:t>
            </a:r>
            <a:br/>
            <a:r>
              <a:t>3. 03 Strategy/Audit</a:t>
            </a:r>
            <a:br/>
            <a:r>
              <a:t>4. 04 Proposal Sent</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DEAL STATUS ABWICKLUNG</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5. 05 Negotiation</a:t>
            </a:r>
            <a:br/>
            <a:r>
              <a:t>6. 06 Closed Won</a:t>
            </a:r>
            <a:br/>
            <a:r>
              <a:t>7. 07 Closed Lost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D8D3CB"/>
                </a:solidFill>
                <a:latin typeface="JetBrains Mono"/>
              </a:defRPr>
            </a:pPr>
            <a:r>
              <a:t>28 · ICP SCORING MATRIX</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D8D3CB"/>
                </a:solidFill>
                <a:latin typeface="JetBrains Mono"/>
              </a:defRPr>
            </a:pPr>
            <a:r>
              <a:t>SPRECHER: RALPH</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ICP Scoring Matrix</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AUTOMATISIERTE QUALIFIZIERUNG</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Score Punkte für monatlichen Ad-Spend</a:t>
            </a:r>
            <a:br/>
            <a:r>
              <a:t>• Score Punkte für Beauty/Supplements Nische</a:t>
            </a:r>
            <a:br/>
            <a:r>
              <a:t>• Score Punkte für B2B-Erreichbarkeit</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15-MINUTEN SLACK ALERT</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Lead-Score &gt;= 8 → Sofortige Slack-Push-Notification an Yahya. Intro-Call-Terminierung innerhalb von 15 Min.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D8D3CB"/>
                </a:solidFill>
                <a:latin typeface="JetBrains Mono"/>
              </a:defRPr>
            </a:pPr>
            <a:r>
              <a:t>29 · NOTION WORKSPACE OS</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D8D3CB"/>
                </a:solidFill>
                <a:latin typeface="JetBrains Mono"/>
              </a:defRPr>
            </a:pPr>
            <a:r>
              <a:t>SPRECHER: RALPH</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Notion Workspace OS</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4 ZENTRALE WISSENSORDNER</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Growth: Outbound outreach, Sales Templates</a:t>
            </a:r>
            <a:br/>
            <a:r>
              <a:t>• Production: Brandbook, Lighting-Setups</a:t>
            </a:r>
            <a:br/>
            <a:r>
              <a:t>• Operations: Verträge, Buchhaltung, Rechnungen</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LYGOX CRM AUTOMATION</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Deal-Status 'Onboarding' → LYGOX API-Call → Notion Dossier Erstellung, Ordnerstrukturen-Anlage in Drive.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D8D3CB"/>
                </a:solidFill>
                <a:latin typeface="JetBrains Mono"/>
              </a:defRPr>
            </a:pPr>
            <a:r>
              <a:t>30 · SOPS &amp; CHECKLISTEN</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D8D3CB"/>
                </a:solidFill>
                <a:latin typeface="JetBrains Mono"/>
              </a:defRPr>
            </a:pPr>
            <a:r>
              <a:t>SPRECHER: RALPH</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Standard Operating Procedures (SOPs)</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QUALITÄT DURCH CHECKLISTEN</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SOP 01: Lead Handling (Terminierung &amp; Audit)</a:t>
            </a:r>
            <a:br/>
            <a:r>
              <a:t>• SOP 02: Onboarding (Vertrag &amp; Asset-Abfrage)</a:t>
            </a:r>
            <a:br/>
            <a:r>
              <a:t>• SOP 03: Case Study Erstellung (Zahlen-Archiv)</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NAMING CONVENTIONS</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[DATE]_[BRAND]_[PROJECT]_[VERSION]_[INITIALS]</a:t>
            </a:r>
            <a:br/>
            <a:r>
              <a:t>Erlaubt sofortige Datenauffindbarkeit über MCP-Schnittstelle.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C8A25A"/>
                </a:solidFill>
                <a:latin typeface="JetBrains Mono"/>
              </a:defRPr>
            </a:pPr>
            <a:r>
              <a:t>31 · TECH STACK &amp; GCP DEPLOY</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C8A25A"/>
                </a:solidFill>
                <a:latin typeface="JetBrains Mono"/>
              </a:defRPr>
            </a:pPr>
            <a:r>
              <a:t>SPRECHER: YAHYA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Tech Stack &amp; Google Cloud Deploy</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LIGHTWEIGHT REACTION ENGINE</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 React 19 + Vite 6 + TypeScript</a:t>
            </a:r>
            <a:br/>
            <a:r>
              <a:t>• Tailwind CSS v4 + Motion animations</a:t>
            </a:r>
            <a:br/>
            <a:r>
              <a:t>• Statische Vorgenerierung (vite-react-ssg)</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DEPLOYMENT ARCHITECTURE</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 Frontend auf Firebase Hosting (CDN)</a:t>
            </a:r>
            <a:br/>
            <a:r>
              <a:t>• Backend als Python (FastAPI) Container auf Cloud Run</a:t>
            </a:r>
            <a:br/>
            <a:r>
              <a:t>• Lighthouse-Score Desktop: 100/100/100/100 · 6/6 Security Header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TextBox 1"/>
          <p:cNvSpPr txBox="1"/>
          <p:nvPr/>
        </p:nvSpPr>
        <p:spPr>
          <a:xfrm>
            <a:off x="731520" y="457200"/>
            <a:ext cx="7315200" cy="365760"/>
          </a:xfrm>
          <a:prstGeom prst="rect">
            <a:avLst/>
          </a:prstGeom>
          <a:noFill/>
        </p:spPr>
        <p:txBody>
          <a:bodyPr wrap="square">
            <a:spAutoFit/>
          </a:bodyPr>
          <a:lstStyle/>
          <a:p>
            <a:pPr algn="l">
              <a:defRPr sz="1100" b="1" i="0">
                <a:solidFill>
                  <a:srgbClr val="C8A25A"/>
                </a:solidFill>
                <a:latin typeface="JetBrains Mono"/>
              </a:defRPr>
            </a:pPr>
            <a:r>
              <a:t>32 · MANIFEST &amp; SAAS OUTLOOK</a:t>
            </a:r>
          </a:p>
        </p:txBody>
      </p:sp>
      <p:sp>
        <p:nvSpPr>
          <p:cNvPr id="3" name="TextBox 2"/>
          <p:cNvSpPr txBox="1"/>
          <p:nvPr/>
        </p:nvSpPr>
        <p:spPr>
          <a:xfrm>
            <a:off x="9144000" y="457200"/>
            <a:ext cx="2286000" cy="365760"/>
          </a:xfrm>
          <a:prstGeom prst="rect">
            <a:avLst/>
          </a:prstGeom>
          <a:noFill/>
        </p:spPr>
        <p:txBody>
          <a:bodyPr wrap="square">
            <a:spAutoFit/>
          </a:bodyPr>
          <a:lstStyle/>
          <a:p>
            <a:pPr algn="r">
              <a:defRPr sz="1000" b="1" i="0">
                <a:solidFill>
                  <a:srgbClr val="C8A25A"/>
                </a:solidFill>
                <a:latin typeface="JetBrains Mono"/>
              </a:defRPr>
            </a:pPr>
            <a:r>
              <a:t>SPRECHER: YAHYA</a:t>
            </a:r>
          </a:p>
        </p:txBody>
      </p:sp>
      <p:sp>
        <p:nvSpPr>
          <p:cNvPr id="4" name="TextBox 3"/>
          <p:cNvSpPr txBox="1"/>
          <p:nvPr/>
        </p:nvSpPr>
        <p:spPr>
          <a:xfrm>
            <a:off x="731520" y="1097280"/>
            <a:ext cx="10058400" cy="731520"/>
          </a:xfrm>
          <a:prstGeom prst="rect">
            <a:avLst/>
          </a:prstGeom>
          <a:noFill/>
        </p:spPr>
        <p:txBody>
          <a:bodyPr wrap="square">
            <a:spAutoFit/>
          </a:bodyPr>
          <a:lstStyle/>
          <a:p>
            <a:pPr algn="l">
              <a:defRPr sz="3600" b="0" i="1">
                <a:solidFill>
                  <a:srgbClr val="F2EFE9"/>
                </a:solidFill>
                <a:latin typeface="Cormorant Garamond"/>
              </a:defRPr>
            </a:pPr>
            <a:r>
              <a:t>SaaS Outlook: Seite B</a:t>
            </a:r>
          </a:p>
        </p:txBody>
      </p:sp>
      <p:sp>
        <p:nvSpPr>
          <p:cNvPr id="5" name="Rectangle 4"/>
          <p:cNvSpPr/>
          <p:nvPr/>
        </p:nvSpPr>
        <p:spPr>
          <a:xfrm>
            <a:off x="731520" y="2011680"/>
            <a:ext cx="2743200" cy="12700"/>
          </a:xfrm>
          <a:prstGeom prst="rect">
            <a:avLst/>
          </a:prstGeom>
          <a:solidFill>
            <a:srgbClr val="C8A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4846320" cy="365760"/>
          </a:xfrm>
          <a:prstGeom prst="rect">
            <a:avLst/>
          </a:prstGeom>
          <a:noFill/>
        </p:spPr>
        <p:txBody>
          <a:bodyPr wrap="square">
            <a:spAutoFit/>
          </a:bodyPr>
          <a:lstStyle/>
          <a:p>
            <a:pPr algn="l">
              <a:defRPr sz="1200" b="1" i="0">
                <a:solidFill>
                  <a:srgbClr val="C8A25A"/>
                </a:solidFill>
                <a:latin typeface="JetBrains Mono"/>
              </a:defRPr>
            </a:pPr>
            <a:r>
              <a:t>DOGFOODING COMPLETED</a:t>
            </a:r>
          </a:p>
        </p:txBody>
      </p:sp>
      <p:sp>
        <p:nvSpPr>
          <p:cNvPr id="7" name="TextBox 6"/>
          <p:cNvSpPr txBox="1"/>
          <p:nvPr/>
        </p:nvSpPr>
        <p:spPr>
          <a:xfrm>
            <a:off x="731520" y="2926080"/>
            <a:ext cx="4846320" cy="2926080"/>
          </a:xfrm>
          <a:prstGeom prst="rect">
            <a:avLst/>
          </a:prstGeom>
          <a:noFill/>
        </p:spPr>
        <p:txBody>
          <a:bodyPr wrap="square">
            <a:spAutoFit/>
          </a:bodyPr>
          <a:lstStyle/>
          <a:p>
            <a:pPr algn="l">
              <a:defRPr sz="1400" b="0" i="0">
                <a:solidFill>
                  <a:srgbClr val="B8B4AE"/>
                </a:solidFill>
                <a:latin typeface="Inter"/>
              </a:defRPr>
            </a:pPr>
            <a:r>
              <a:t>Mirrou dient als Tenant #1 zur Validierung des Opus-Magnum-Substrats (LYGOX, Columna).</a:t>
            </a:r>
          </a:p>
        </p:txBody>
      </p:sp>
      <p:sp>
        <p:nvSpPr>
          <p:cNvPr id="8" name="TextBox 7"/>
          <p:cNvSpPr txBox="1"/>
          <p:nvPr/>
        </p:nvSpPr>
        <p:spPr>
          <a:xfrm>
            <a:off x="6217920" y="2377440"/>
            <a:ext cx="5029200" cy="365760"/>
          </a:xfrm>
          <a:prstGeom prst="rect">
            <a:avLst/>
          </a:prstGeom>
          <a:noFill/>
        </p:spPr>
        <p:txBody>
          <a:bodyPr wrap="square">
            <a:spAutoFit/>
          </a:bodyPr>
          <a:lstStyle/>
          <a:p>
            <a:pPr algn="l">
              <a:defRPr sz="1200" b="1" i="0">
                <a:solidFill>
                  <a:srgbClr val="C8A25A"/>
                </a:solidFill>
                <a:latin typeface="JetBrains Mono"/>
              </a:defRPr>
            </a:pPr>
            <a:r>
              <a:t>B2B RETROFIT OUTLOOK</a:t>
            </a:r>
          </a:p>
        </p:txBody>
      </p:sp>
      <p:sp>
        <p:nvSpPr>
          <p:cNvPr id="9" name="TextBox 8"/>
          <p:cNvSpPr txBox="1"/>
          <p:nvPr/>
        </p:nvSpPr>
        <p:spPr>
          <a:xfrm>
            <a:off x="6217920" y="2926080"/>
            <a:ext cx="5029200" cy="2926080"/>
          </a:xfrm>
          <a:prstGeom prst="rect">
            <a:avLst/>
          </a:prstGeom>
          <a:noFill/>
        </p:spPr>
        <p:txBody>
          <a:bodyPr wrap="square">
            <a:spAutoFit/>
          </a:bodyPr>
          <a:lstStyle/>
          <a:p>
            <a:pPr algn="l">
              <a:defRPr sz="1400" b="0" i="0">
                <a:solidFill>
                  <a:srgbClr val="B8B4AE"/>
                </a:solidFill>
                <a:latin typeface="Inter"/>
              </a:defRPr>
            </a:pPr>
            <a:r>
              <a:t>Öffnung der OMM Enterprise-Suite als lizenziertes B2B-SaaS für D2C-Brands ab Phase 2. mirrou.studio live.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